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97" d="100"/>
          <a:sy n="97" d="100"/>
        </p:scale>
        <p:origin x="-115" y="-28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Rounded Rectangle 1"/>
          <p:cNvSpPr/>
          <p:nvPr/>
        </p:nvSpPr>
        <p:spPr>
          <a:xfrm>
            <a:off x="8275320" y="685800"/>
            <a:ext cx="3063240" cy="5440680"/>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3" name="Rounded Rectangle 2"/>
          <p:cNvSpPr/>
          <p:nvPr/>
        </p:nvSpPr>
        <p:spPr>
          <a:xfrm>
            <a:off x="8668512" y="1280160"/>
            <a:ext cx="2286000" cy="841248"/>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4" name="TextBox 3"/>
          <p:cNvSpPr txBox="1"/>
          <p:nvPr/>
        </p:nvSpPr>
        <p:spPr>
          <a:xfrm>
            <a:off x="8705088" y="1527048"/>
            <a:ext cx="2194560" cy="256032"/>
          </a:xfrm>
          <a:prstGeom prst="rect">
            <a:avLst/>
          </a:prstGeom>
          <a:noFill/>
        </p:spPr>
        <p:txBody>
          <a:bodyPr wrap="square" lIns="88900" tIns="50800" rIns="88900" bIns="50800" anchor="ctr">
            <a:spAutoFit/>
          </a:bodyPr>
          <a:lstStyle/>
          <a:p>
            <a:pPr algn="l">
              <a:spcAft>
                <a:spcPts val="600"/>
              </a:spcAft>
              <a:defRPr sz="1300" b="1">
                <a:solidFill>
                  <a:srgbClr val="2B2643"/>
                </a:solidFill>
                <a:latin typeface="Aptos"/>
              </a:defRPr>
            </a:pPr>
            <a:r>
              <a:rPr sz="1000">
                <a:solidFill>
                  <a:srgbClr val="413A4C"/>
                </a:solidFill>
                <a:latin typeface="Aptos"/>
              </a:rPr>
              <a:t>PATIENTS</a:t>
            </a:r>
          </a:p>
        </p:txBody>
      </p:sp>
      <p:sp>
        <p:nvSpPr>
          <p:cNvPr id="5" name="Rounded Rectangle 4"/>
          <p:cNvSpPr/>
          <p:nvPr/>
        </p:nvSpPr>
        <p:spPr>
          <a:xfrm>
            <a:off x="8668512" y="2606039"/>
            <a:ext cx="2286000" cy="841248"/>
          </a:xfrm>
          <a:prstGeom prst="round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6" name="TextBox 5"/>
          <p:cNvSpPr txBox="1"/>
          <p:nvPr/>
        </p:nvSpPr>
        <p:spPr>
          <a:xfrm>
            <a:off x="8705088" y="2852928"/>
            <a:ext cx="2194560" cy="256032"/>
          </a:xfrm>
          <a:prstGeom prst="rect">
            <a:avLst/>
          </a:prstGeom>
          <a:noFill/>
        </p:spPr>
        <p:txBody>
          <a:bodyPr wrap="square" lIns="88900" tIns="50800" rIns="88900" bIns="50800" anchor="ctr">
            <a:spAutoFit/>
          </a:bodyPr>
          <a:lstStyle/>
          <a:p>
            <a:pPr algn="l">
              <a:spcAft>
                <a:spcPts val="600"/>
              </a:spcAft>
              <a:defRPr sz="1300" b="1">
                <a:solidFill>
                  <a:srgbClr val="2B2643"/>
                </a:solidFill>
                <a:latin typeface="Aptos"/>
              </a:defRPr>
            </a:pPr>
            <a:r>
              <a:rPr sz="1000">
                <a:solidFill>
                  <a:srgbClr val="413A4C"/>
                </a:solidFill>
                <a:latin typeface="Aptos"/>
              </a:rPr>
              <a:t>BEDS &amp; WARDS</a:t>
            </a:r>
          </a:p>
        </p:txBody>
      </p:sp>
      <p:sp>
        <p:nvSpPr>
          <p:cNvPr id="7" name="Rounded Rectangle 6"/>
          <p:cNvSpPr/>
          <p:nvPr/>
        </p:nvSpPr>
        <p:spPr>
          <a:xfrm>
            <a:off x="8668512" y="3931920"/>
            <a:ext cx="2286000" cy="841248"/>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8705088" y="4178808"/>
            <a:ext cx="2194560" cy="256032"/>
          </a:xfrm>
          <a:prstGeom prst="rect">
            <a:avLst/>
          </a:prstGeom>
          <a:noFill/>
        </p:spPr>
        <p:txBody>
          <a:bodyPr wrap="square" lIns="88900" tIns="50800" rIns="88900" bIns="50800" anchor="ctr">
            <a:spAutoFit/>
          </a:bodyPr>
          <a:lstStyle/>
          <a:p>
            <a:pPr algn="l">
              <a:spcAft>
                <a:spcPts val="600"/>
              </a:spcAft>
              <a:defRPr sz="1300" b="1">
                <a:solidFill>
                  <a:srgbClr val="2B2643"/>
                </a:solidFill>
                <a:latin typeface="Aptos"/>
              </a:defRPr>
            </a:pPr>
            <a:r>
              <a:rPr sz="1000">
                <a:solidFill>
                  <a:srgbClr val="413A4C"/>
                </a:solidFill>
                <a:latin typeface="Aptos"/>
              </a:rPr>
              <a:t>SMART CARE</a:t>
            </a:r>
          </a:p>
        </p:txBody>
      </p:sp>
      <p:sp>
        <p:nvSpPr>
          <p:cNvPr id="9" name="TextBox 8"/>
          <p:cNvSpPr txBox="1"/>
          <p:nvPr/>
        </p:nvSpPr>
        <p:spPr>
          <a:xfrm>
            <a:off x="777240" y="1051560"/>
            <a:ext cx="6766560" cy="777240"/>
          </a:xfrm>
          <a:prstGeom prst="rect">
            <a:avLst/>
          </a:prstGeom>
          <a:noFill/>
        </p:spPr>
        <p:txBody>
          <a:bodyPr wrap="square" lIns="88900" tIns="50800" rIns="88900" bIns="50800" anchor="ctr">
            <a:spAutoFit/>
          </a:bodyPr>
          <a:lstStyle/>
          <a:p>
            <a:pPr algn="l">
              <a:spcAft>
                <a:spcPts val="600"/>
              </a:spcAft>
              <a:defRPr sz="2700" b="1">
                <a:solidFill>
                  <a:srgbClr val="3A2754"/>
                </a:solidFill>
                <a:latin typeface="Aptos Display"/>
              </a:defRPr>
            </a:pPr>
            <a:r>
              <a:rPr sz="2000" b="1">
                <a:solidFill>
                  <a:srgbClr val="35284B"/>
                </a:solidFill>
                <a:latin typeface="Aptos"/>
              </a:rPr>
              <a:t>HOSPITAL BED SCHEDULING SYSTEM</a:t>
            </a:r>
          </a:p>
        </p:txBody>
      </p:sp>
      <p:sp>
        <p:nvSpPr>
          <p:cNvPr id="10" name="TextBox 9"/>
          <p:cNvSpPr txBox="1"/>
          <p:nvPr/>
        </p:nvSpPr>
        <p:spPr>
          <a:xfrm>
            <a:off x="822960" y="1993392"/>
            <a:ext cx="6949440" cy="1005840"/>
          </a:xfrm>
          <a:prstGeom prst="rect">
            <a:avLst/>
          </a:prstGeom>
          <a:noFill/>
        </p:spPr>
        <p:txBody>
          <a:bodyPr wrap="square" lIns="88900" tIns="50800" rIns="88900" bIns="50800" anchor="ctr">
            <a:spAutoFit/>
          </a:bodyPr>
          <a:lstStyle/>
          <a:p>
            <a:pPr algn="l">
              <a:spcAft>
                <a:spcPts val="600"/>
              </a:spcAft>
              <a:defRPr sz="2700" b="1">
                <a:solidFill>
                  <a:srgbClr val="3A2754"/>
                </a:solidFill>
                <a:latin typeface="Aptos Display"/>
              </a:defRPr>
            </a:pPr>
            <a:r>
              <a:rPr sz="2000" b="1">
                <a:solidFill>
                  <a:srgbClr val="35284B"/>
                </a:solidFill>
                <a:latin typeface="Aptos"/>
              </a:rPr>
              <a:t>HOSPITAL BED SCHEDULING SYSTEM</a:t>
            </a:r>
          </a:p>
        </p:txBody>
      </p:sp>
      <p:sp>
        <p:nvSpPr>
          <p:cNvPr id="11" name="TextBox 10"/>
          <p:cNvSpPr txBox="1"/>
          <p:nvPr/>
        </p:nvSpPr>
        <p:spPr>
          <a:xfrm>
            <a:off x="841248" y="3429000"/>
            <a:ext cx="4572000" cy="320040"/>
          </a:xfrm>
          <a:prstGeom prst="rect">
            <a:avLst/>
          </a:prstGeom>
          <a:noFill/>
        </p:spPr>
        <p:txBody>
          <a:bodyPr wrap="square" lIns="88900" tIns="50800" rIns="88900" bIns="50800" anchor="ctr">
            <a:spAutoFit/>
          </a:bodyPr>
          <a:lstStyle/>
          <a:p>
            <a:pPr algn="l">
              <a:spcAft>
                <a:spcPts val="600"/>
              </a:spcAft>
              <a:defRPr sz="1600" b="1">
                <a:solidFill>
                  <a:srgbClr val="F7DACA"/>
                </a:solidFill>
                <a:latin typeface="Aptos"/>
              </a:defRPr>
            </a:pPr>
            <a:r>
              <a:rPr sz="1000">
                <a:solidFill>
                  <a:srgbClr val="413A4C"/>
                </a:solidFill>
                <a:latin typeface="Aptos"/>
              </a:rPr>
              <a:t>PROJECT PRESENTATION</a:t>
            </a:r>
          </a:p>
        </p:txBody>
      </p:sp>
      <p:sp>
        <p:nvSpPr>
          <p:cNvPr id="12" name="TextBox 11"/>
          <p:cNvSpPr txBox="1"/>
          <p:nvPr/>
        </p:nvSpPr>
        <p:spPr>
          <a:xfrm>
            <a:off x="841248" y="3977639"/>
            <a:ext cx="7132320" cy="777240"/>
          </a:xfrm>
          <a:prstGeom prst="rect">
            <a:avLst/>
          </a:prstGeom>
          <a:noFill/>
        </p:spPr>
        <p:txBody>
          <a:bodyPr wrap="square" lIns="88900" tIns="50800" rIns="88900" bIns="50800" anchor="ctr">
            <a:spAutoFit/>
          </a:bodyPr>
          <a:lstStyle/>
          <a:p>
            <a:pPr algn="l">
              <a:spcAft>
                <a:spcPts val="600"/>
              </a:spcAft>
              <a:defRPr sz="1500" b="0">
                <a:solidFill>
                  <a:srgbClr val="FFFFFF"/>
                </a:solidFill>
                <a:latin typeface="Aptos"/>
              </a:defRPr>
            </a:pPr>
            <a:r>
              <a:rPr sz="1000">
                <a:solidFill>
                  <a:srgbClr val="413A4C"/>
                </a:solidFill>
                <a:latin typeface="Aptos"/>
              </a:rPr>
              <a:t>Patient records • Appointments • Bed management</a:t>
            </a:r>
          </a:p>
          <a:p>
            <a:pPr algn="l">
              <a:spcAft>
                <a:spcPts val="600"/>
              </a:spcAft>
              <a:defRPr sz="1500" b="0">
                <a:solidFill>
                  <a:srgbClr val="FFFFFF"/>
                </a:solidFill>
                <a:latin typeface="Aptos"/>
              </a:defRPr>
            </a:pPr>
            <a:r>
              <a:rPr sz="1000">
                <a:solidFill>
                  <a:srgbClr val="413A4C"/>
                </a:solidFill>
                <a:latin typeface="Aptos"/>
              </a:rPr>
              <a:t>Emergency services • Inventory • Billing</a:t>
            </a:r>
          </a:p>
        </p:txBody>
      </p:sp>
      <p:sp>
        <p:nvSpPr>
          <p:cNvPr id="13" name="TextBox 12"/>
          <p:cNvSpPr txBox="1"/>
          <p:nvPr/>
        </p:nvSpPr>
        <p:spPr>
          <a:xfrm>
            <a:off x="841248" y="5577840"/>
            <a:ext cx="5303520" cy="594360"/>
          </a:xfrm>
          <a:prstGeom prst="rect">
            <a:avLst/>
          </a:prstGeom>
          <a:noFill/>
        </p:spPr>
        <p:txBody>
          <a:bodyPr wrap="square" lIns="88900" tIns="50800" rIns="88900" bIns="50800" anchor="ctr">
            <a:spAutoFit/>
          </a:bodyPr>
          <a:lstStyle/>
          <a:p>
            <a:pPr algn="l">
              <a:spcAft>
                <a:spcPts val="500"/>
              </a:spcAft>
              <a:defRPr sz="1300" b="1">
                <a:solidFill>
                  <a:srgbClr val="3A2754"/>
                </a:solidFill>
                <a:latin typeface="Aptos"/>
              </a:defRPr>
            </a:pPr>
            <a:r>
              <a:rPr sz="2000" b="1">
                <a:solidFill>
                  <a:srgbClr val="35284B"/>
                </a:solidFill>
                <a:latin typeface="Aptos"/>
              </a:rPr>
              <a:t>Team Members</a:t>
            </a:r>
          </a:p>
          <a:p>
            <a:pPr algn="l">
              <a:spcAft>
                <a:spcPts val="500"/>
              </a:spcAft>
              <a:defRPr sz="1100" b="0">
                <a:solidFill>
                  <a:srgbClr val="3A2754"/>
                </a:solidFill>
                <a:latin typeface="Aptos"/>
              </a:defRPr>
            </a:pPr>
            <a:r>
              <a:rPr sz="2000" b="1">
                <a:solidFill>
                  <a:srgbClr val="35284B"/>
                </a:solidFill>
                <a:latin typeface="Aptos"/>
              </a:rPr>
              <a:t>Srija – 2520090053</a:t>
            </a:r>
          </a:p>
          <a:p>
            <a:pPr algn="l">
              <a:spcAft>
                <a:spcPts val="500"/>
              </a:spcAft>
              <a:defRPr sz="1100" b="0">
                <a:solidFill>
                  <a:srgbClr val="3A2754"/>
                </a:solidFill>
                <a:latin typeface="Aptos"/>
              </a:defRPr>
            </a:pPr>
            <a:r>
              <a:rPr sz="2000" b="1">
                <a:solidFill>
                  <a:srgbClr val="35284B"/>
                </a:solidFill>
                <a:latin typeface="Aptos"/>
              </a:rPr>
              <a:t>Keerthana – 2520090132</a:t>
            </a:r>
          </a:p>
          <a:p>
            <a:pPr algn="l">
              <a:spcAft>
                <a:spcPts val="500"/>
              </a:spcAft>
              <a:defRPr sz="1100" b="0">
                <a:solidFill>
                  <a:srgbClr val="3A2754"/>
                </a:solidFill>
                <a:latin typeface="Aptos"/>
              </a:defRPr>
            </a:pPr>
            <a:r>
              <a:rPr sz="2000" b="1">
                <a:solidFill>
                  <a:srgbClr val="35284B"/>
                </a:solidFill>
                <a:latin typeface="Aptos"/>
              </a:rPr>
              <a:t>Team Number – 23</a:t>
            </a:r>
          </a:p>
          <a:p>
            <a:pPr algn="l">
              <a:spcAft>
                <a:spcPts val="500"/>
              </a:spcAft>
              <a:defRPr sz="1100" b="0">
                <a:solidFill>
                  <a:srgbClr val="3A2754"/>
                </a:solidFill>
                <a:latin typeface="Aptos"/>
              </a:defRPr>
            </a:pPr>
            <a:r>
              <a:rPr sz="2000" b="1">
                <a:solidFill>
                  <a:srgbClr val="35284B"/>
                </a:solidFill>
                <a:latin typeface="Aptos"/>
              </a:rPr>
              <a:t>Course – DSA-3 (25CS2103E)</a:t>
            </a:r>
          </a:p>
        </p:txBody>
      </p:sp>
      <p:pic>
        <p:nvPicPr>
          <p:cNvPr id="14" name="Picture 13" descr="Screenshot 2026-10-05 093803.png"/>
          <p:cNvPicPr>
            <a:picLocks noChangeAspect="1"/>
          </p:cNvPicPr>
          <p:nvPr/>
        </p:nvPicPr>
        <p:blipFill>
          <a:blip r:embed="rId2"/>
          <a:stretch>
            <a:fillRect/>
          </a:stretch>
        </p:blipFill>
        <p:spPr>
          <a:xfrm>
            <a:off x="10545775" y="228600"/>
            <a:ext cx="1325880" cy="5182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01 • PROJECT OVERVIEW</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Abstract</a:t>
            </a:r>
          </a:p>
        </p:txBody>
      </p:sp>
      <p:sp>
        <p:nvSpPr>
          <p:cNvPr id="4" name="Rectangle 3"/>
          <p:cNvSpPr/>
          <p:nvPr/>
        </p:nvSpPr>
        <p:spPr>
          <a:xfrm>
            <a:off x="658368" y="987552"/>
            <a:ext cx="960120" cy="50292"/>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02</a:t>
            </a:r>
          </a:p>
        </p:txBody>
      </p:sp>
      <p:sp>
        <p:nvSpPr>
          <p:cNvPr id="6" name="TextBox 5"/>
          <p:cNvSpPr txBox="1"/>
          <p:nvPr/>
        </p:nvSpPr>
        <p:spPr>
          <a:xfrm>
            <a:off x="822960" y="1371600"/>
            <a:ext cx="10515600" cy="3017520"/>
          </a:xfrm>
          <a:prstGeom prst="rect">
            <a:avLst/>
          </a:prstGeom>
          <a:noFill/>
        </p:spPr>
        <p:txBody>
          <a:bodyPr wrap="square" lIns="88900" tIns="50800" rIns="88900" bIns="50800" anchor="ctr">
            <a:spAutoFit/>
          </a:bodyPr>
          <a:lstStyle/>
          <a:p>
            <a:pPr algn="l"/>
            <a:r>
              <a:rPr sz="1000">
                <a:solidFill>
                  <a:srgbClr val="413A4C"/>
                </a:solidFill>
                <a:latin typeface="Aptos"/>
              </a:rPr>
              <a:t>Hospital Bed Scheduling System is a web-based Hospital Care Management System designed to organise essential hospital operations through a single platform. It integrates patient and doctor management, appointment booking, bed and ward monitoring, emergency dispatch, inventory, pharmacy and laboratory services, and billing. The project demonstrates advanced algorithmic techniques—including string matching, dynamic programming, network flow, approximation and randomised algorithms—for searching, scheduling, and resource-allocation problems. Hospital Bed Scheduling System aims to reduce manual effort, improve information accessibility, and support better coordination of hospital resources.</a:t>
            </a:r>
          </a:p>
        </p:txBody>
      </p:sp>
      <p:sp>
        <p:nvSpPr>
          <p:cNvPr id="7" name="Rounded Rectangle 6"/>
          <p:cNvSpPr/>
          <p:nvPr/>
        </p:nvSpPr>
        <p:spPr>
          <a:xfrm>
            <a:off x="822960" y="4754880"/>
            <a:ext cx="3383280" cy="105156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Rectangle 7"/>
          <p:cNvSpPr/>
          <p:nvPr/>
        </p:nvSpPr>
        <p:spPr>
          <a:xfrm>
            <a:off x="822960" y="4754880"/>
            <a:ext cx="73152" cy="1051560"/>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9" name="TextBox 8"/>
          <p:cNvSpPr txBox="1"/>
          <p:nvPr/>
        </p:nvSpPr>
        <p:spPr>
          <a:xfrm>
            <a:off x="1005840" y="4892040"/>
            <a:ext cx="305409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Centralised care</a:t>
            </a:r>
          </a:p>
        </p:txBody>
      </p:sp>
      <p:sp>
        <p:nvSpPr>
          <p:cNvPr id="10" name="TextBox 9"/>
          <p:cNvSpPr txBox="1"/>
          <p:nvPr/>
        </p:nvSpPr>
        <p:spPr>
          <a:xfrm>
            <a:off x="1005840" y="5276088"/>
            <a:ext cx="3035808" cy="457199"/>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Connected hospital workflows.</a:t>
            </a:r>
          </a:p>
        </p:txBody>
      </p:sp>
      <p:sp>
        <p:nvSpPr>
          <p:cNvPr id="11" name="Rounded Rectangle 10"/>
          <p:cNvSpPr/>
          <p:nvPr/>
        </p:nvSpPr>
        <p:spPr>
          <a:xfrm>
            <a:off x="4389120" y="4754880"/>
            <a:ext cx="3383280" cy="1051560"/>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Rectangle 11"/>
          <p:cNvSpPr/>
          <p:nvPr/>
        </p:nvSpPr>
        <p:spPr>
          <a:xfrm>
            <a:off x="4389120" y="4754880"/>
            <a:ext cx="73152" cy="1051560"/>
          </a:xfrm>
          <a:prstGeom prst="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3" name="TextBox 12"/>
          <p:cNvSpPr txBox="1"/>
          <p:nvPr/>
        </p:nvSpPr>
        <p:spPr>
          <a:xfrm>
            <a:off x="4572000" y="4892040"/>
            <a:ext cx="305409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Algorithmic support</a:t>
            </a:r>
          </a:p>
        </p:txBody>
      </p:sp>
      <p:sp>
        <p:nvSpPr>
          <p:cNvPr id="14" name="TextBox 13"/>
          <p:cNvSpPr txBox="1"/>
          <p:nvPr/>
        </p:nvSpPr>
        <p:spPr>
          <a:xfrm>
            <a:off x="4572000" y="5276088"/>
            <a:ext cx="3035808" cy="457199"/>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Search, schedule and allocate.</a:t>
            </a:r>
          </a:p>
        </p:txBody>
      </p:sp>
      <p:sp>
        <p:nvSpPr>
          <p:cNvPr id="15" name="Rounded Rectangle 14"/>
          <p:cNvSpPr/>
          <p:nvPr/>
        </p:nvSpPr>
        <p:spPr>
          <a:xfrm>
            <a:off x="7955279" y="4754880"/>
            <a:ext cx="3383280" cy="1051560"/>
          </a:xfrm>
          <a:prstGeom prst="round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6" name="Rectangle 15"/>
          <p:cNvSpPr/>
          <p:nvPr/>
        </p:nvSpPr>
        <p:spPr>
          <a:xfrm>
            <a:off x="7955279" y="4754880"/>
            <a:ext cx="73152" cy="1051560"/>
          </a:xfrm>
          <a:prstGeom prst="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7" name="TextBox 16"/>
          <p:cNvSpPr txBox="1"/>
          <p:nvPr/>
        </p:nvSpPr>
        <p:spPr>
          <a:xfrm>
            <a:off x="8138159" y="4892040"/>
            <a:ext cx="305409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Future-ready</a:t>
            </a:r>
          </a:p>
        </p:txBody>
      </p:sp>
      <p:sp>
        <p:nvSpPr>
          <p:cNvPr id="18" name="TextBox 17"/>
          <p:cNvSpPr txBox="1"/>
          <p:nvPr/>
        </p:nvSpPr>
        <p:spPr>
          <a:xfrm>
            <a:off x="8138159" y="5276088"/>
            <a:ext cx="3035808" cy="457199"/>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Foundation for secure extensions.</a:t>
            </a:r>
          </a:p>
        </p:txBody>
      </p:sp>
      <p:pic>
        <p:nvPicPr>
          <p:cNvPr id="19" name="Picture 18"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02 • BACKGROUND</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Introduction</a:t>
            </a:r>
          </a:p>
        </p:txBody>
      </p:sp>
      <p:sp>
        <p:nvSpPr>
          <p:cNvPr id="4" name="Rectangle 3"/>
          <p:cNvSpPr/>
          <p:nvPr/>
        </p:nvSpPr>
        <p:spPr>
          <a:xfrm>
            <a:off x="658368" y="987552"/>
            <a:ext cx="960120" cy="50292"/>
          </a:xfrm>
          <a:prstGeom prst="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03</a:t>
            </a:r>
          </a:p>
        </p:txBody>
      </p:sp>
      <p:sp>
        <p:nvSpPr>
          <p:cNvPr id="6" name="TextBox 5"/>
          <p:cNvSpPr txBox="1"/>
          <p:nvPr/>
        </p:nvSpPr>
        <p:spPr>
          <a:xfrm>
            <a:off x="896112" y="2202591"/>
            <a:ext cx="10515600" cy="564257"/>
          </a:xfrm>
          <a:prstGeom prst="rect">
            <a:avLst/>
          </a:prstGeom>
          <a:noFill/>
        </p:spPr>
        <p:txBody>
          <a:bodyPr wrap="square" lIns="88900" tIns="50800" rIns="88900" bIns="50800" anchor="ctr">
            <a:spAutoFit/>
          </a:bodyPr>
          <a:lstStyle/>
          <a:p>
            <a:pPr algn="l"/>
            <a:r>
              <a:rPr sz="1000">
                <a:solidFill>
                  <a:srgbClr val="413A4C"/>
                </a:solidFill>
                <a:latin typeface="Aptos"/>
              </a:rPr>
              <a:t>Hospitals coordinate many connected activities, from patient registration and doctor schedules to bed availability, emergency services, inventory and billing. Managing these activities separately can make information harder to access and resources harder to coordinate. Hospital Bed Scheduling System brings these workflows into one web interface and uses algorithm demonstrations to show how searching, scheduling and resource planning can be approached systematically.</a:t>
            </a:r>
          </a:p>
        </p:txBody>
      </p:sp>
      <p:sp>
        <p:nvSpPr>
          <p:cNvPr id="7" name="Rounded Rectangle 6"/>
          <p:cNvSpPr/>
          <p:nvPr/>
        </p:nvSpPr>
        <p:spPr>
          <a:xfrm>
            <a:off x="822960" y="3749039"/>
            <a:ext cx="3383280" cy="150876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Rectangle 7"/>
          <p:cNvSpPr/>
          <p:nvPr/>
        </p:nvSpPr>
        <p:spPr>
          <a:xfrm>
            <a:off x="822960" y="3749039"/>
            <a:ext cx="73152" cy="1508760"/>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9" name="TextBox 8"/>
          <p:cNvSpPr txBox="1"/>
          <p:nvPr/>
        </p:nvSpPr>
        <p:spPr>
          <a:xfrm>
            <a:off x="1005840" y="3886200"/>
            <a:ext cx="305409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One platform</a:t>
            </a:r>
          </a:p>
        </p:txBody>
      </p:sp>
      <p:sp>
        <p:nvSpPr>
          <p:cNvPr id="10" name="TextBox 9"/>
          <p:cNvSpPr txBox="1"/>
          <p:nvPr/>
        </p:nvSpPr>
        <p:spPr>
          <a:xfrm>
            <a:off x="1005840" y="4270248"/>
            <a:ext cx="3035808" cy="914399"/>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A single interface for common hospital tasks.</a:t>
            </a:r>
          </a:p>
        </p:txBody>
      </p:sp>
      <p:sp>
        <p:nvSpPr>
          <p:cNvPr id="11" name="Rounded Rectangle 10"/>
          <p:cNvSpPr/>
          <p:nvPr/>
        </p:nvSpPr>
        <p:spPr>
          <a:xfrm>
            <a:off x="4389120" y="3749039"/>
            <a:ext cx="3383280" cy="150876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Rectangle 11"/>
          <p:cNvSpPr/>
          <p:nvPr/>
        </p:nvSpPr>
        <p:spPr>
          <a:xfrm>
            <a:off x="4389120" y="3749039"/>
            <a:ext cx="73152" cy="1508760"/>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3" name="TextBox 12"/>
          <p:cNvSpPr txBox="1"/>
          <p:nvPr/>
        </p:nvSpPr>
        <p:spPr>
          <a:xfrm>
            <a:off x="4572000" y="3886200"/>
            <a:ext cx="305409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Better organisation</a:t>
            </a:r>
          </a:p>
        </p:txBody>
      </p:sp>
      <p:sp>
        <p:nvSpPr>
          <p:cNvPr id="14" name="TextBox 13"/>
          <p:cNvSpPr txBox="1"/>
          <p:nvPr/>
        </p:nvSpPr>
        <p:spPr>
          <a:xfrm>
            <a:off x="4572000" y="4270248"/>
            <a:ext cx="3035808" cy="914399"/>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Clear records and operational status.</a:t>
            </a:r>
          </a:p>
        </p:txBody>
      </p:sp>
      <p:sp>
        <p:nvSpPr>
          <p:cNvPr id="15" name="Rounded Rectangle 14"/>
          <p:cNvSpPr/>
          <p:nvPr/>
        </p:nvSpPr>
        <p:spPr>
          <a:xfrm>
            <a:off x="7955279" y="3749039"/>
            <a:ext cx="3383280" cy="1508760"/>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6" name="Rectangle 15"/>
          <p:cNvSpPr/>
          <p:nvPr/>
        </p:nvSpPr>
        <p:spPr>
          <a:xfrm>
            <a:off x="7955279" y="3749039"/>
            <a:ext cx="73152" cy="1508760"/>
          </a:xfrm>
          <a:prstGeom prst="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7" name="TextBox 16"/>
          <p:cNvSpPr txBox="1"/>
          <p:nvPr/>
        </p:nvSpPr>
        <p:spPr>
          <a:xfrm>
            <a:off x="8138159" y="3886200"/>
            <a:ext cx="305409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Advanced algorithms</a:t>
            </a:r>
          </a:p>
        </p:txBody>
      </p:sp>
      <p:sp>
        <p:nvSpPr>
          <p:cNvPr id="18" name="TextBox 17"/>
          <p:cNvSpPr txBox="1"/>
          <p:nvPr/>
        </p:nvSpPr>
        <p:spPr>
          <a:xfrm>
            <a:off x="8138159" y="4270248"/>
            <a:ext cx="3035808" cy="914399"/>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Practical examples of optimisation and search.</a:t>
            </a:r>
          </a:p>
        </p:txBody>
      </p:sp>
      <p:pic>
        <p:nvPicPr>
          <p:cNvPr id="19" name="Picture 18"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03 • NEED AND GOALS</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Problem Statement &amp; Objectives</a:t>
            </a:r>
          </a:p>
        </p:txBody>
      </p:sp>
      <p:sp>
        <p:nvSpPr>
          <p:cNvPr id="4" name="Rectangle 3"/>
          <p:cNvSpPr/>
          <p:nvPr/>
        </p:nvSpPr>
        <p:spPr>
          <a:xfrm>
            <a:off x="658368" y="987552"/>
            <a:ext cx="960120" cy="50292"/>
          </a:xfrm>
          <a:prstGeom prst="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04</a:t>
            </a:r>
          </a:p>
        </p:txBody>
      </p:sp>
      <p:sp>
        <p:nvSpPr>
          <p:cNvPr id="6" name="Rounded Rectangle 5"/>
          <p:cNvSpPr/>
          <p:nvPr/>
        </p:nvSpPr>
        <p:spPr>
          <a:xfrm>
            <a:off x="777240" y="1325880"/>
            <a:ext cx="5166360" cy="452628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Rectangle 6"/>
          <p:cNvSpPr/>
          <p:nvPr/>
        </p:nvSpPr>
        <p:spPr>
          <a:xfrm>
            <a:off x="777240" y="1325880"/>
            <a:ext cx="73152" cy="4526280"/>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960120" y="1463039"/>
            <a:ext cx="483717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Problem statement</a:t>
            </a:r>
          </a:p>
        </p:txBody>
      </p:sp>
      <p:sp>
        <p:nvSpPr>
          <p:cNvPr id="9" name="TextBox 8"/>
          <p:cNvSpPr txBox="1"/>
          <p:nvPr/>
        </p:nvSpPr>
        <p:spPr>
          <a:xfrm>
            <a:off x="960120" y="1847088"/>
            <a:ext cx="4818888" cy="3931920"/>
          </a:xfrm>
          <a:prstGeom prst="rect">
            <a:avLst/>
          </a:prstGeom>
          <a:noFill/>
        </p:spPr>
        <p:txBody>
          <a:bodyPr wrap="square" lIns="88900" tIns="50800" rIns="88900" bIns="50800" anchor="ctr">
            <a:spAutoFit/>
          </a:bodyPr>
          <a:lstStyle/>
          <a:p>
            <a:pPr algn="l">
              <a:spcAft>
                <a:spcPts val="600"/>
              </a:spcAft>
              <a:defRPr sz="1600" b="0">
                <a:solidFill>
                  <a:srgbClr val="373541"/>
                </a:solidFill>
                <a:latin typeface="Aptos"/>
              </a:defRPr>
            </a:pPr>
            <a:r>
              <a:rPr sz="1000">
                <a:solidFill>
                  <a:srgbClr val="413A4C"/>
                </a:solidFill>
                <a:latin typeface="Aptos"/>
              </a:rPr>
              <a:t>Hospital operations involve patient information, appointments, bed availability, staffing, emergency dispatch, stock and billing. Fragmented handling can cause delays, scheduling conflicts, difficulty tracking resources and additional manual work. A unified platform is needed to organise these workflows and demonstrate algorithmic approaches to searching and allocation.</a:t>
            </a:r>
          </a:p>
        </p:txBody>
      </p:sp>
      <p:sp>
        <p:nvSpPr>
          <p:cNvPr id="10" name="Rounded Rectangle 9"/>
          <p:cNvSpPr/>
          <p:nvPr/>
        </p:nvSpPr>
        <p:spPr>
          <a:xfrm>
            <a:off x="6217920" y="1325880"/>
            <a:ext cx="5166360" cy="452628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1" name="Rectangle 10"/>
          <p:cNvSpPr/>
          <p:nvPr/>
        </p:nvSpPr>
        <p:spPr>
          <a:xfrm>
            <a:off x="6217920" y="1325880"/>
            <a:ext cx="73152" cy="4526280"/>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TextBox 11"/>
          <p:cNvSpPr txBox="1"/>
          <p:nvPr/>
        </p:nvSpPr>
        <p:spPr>
          <a:xfrm>
            <a:off x="6400800" y="1463039"/>
            <a:ext cx="483717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Objectives</a:t>
            </a:r>
          </a:p>
        </p:txBody>
      </p:sp>
      <p:sp>
        <p:nvSpPr>
          <p:cNvPr id="13" name="TextBox 12"/>
          <p:cNvSpPr txBox="1"/>
          <p:nvPr/>
        </p:nvSpPr>
        <p:spPr>
          <a:xfrm>
            <a:off x="6400800" y="1847088"/>
            <a:ext cx="4818888" cy="3931920"/>
          </a:xfrm>
          <a:prstGeom prst="rect">
            <a:avLst/>
          </a:prstGeom>
          <a:noFill/>
        </p:spPr>
        <p:txBody>
          <a:bodyPr wrap="square" lIns="88900" tIns="50800" rIns="88900" bIns="50800" anchor="ctr">
            <a:spAutoFit/>
          </a:bodyPr>
          <a:lstStyle/>
          <a:p>
            <a:pPr algn="l">
              <a:spcAft>
                <a:spcPts val="600"/>
              </a:spcAft>
              <a:defRPr sz="1500" b="0">
                <a:solidFill>
                  <a:srgbClr val="373541"/>
                </a:solidFill>
                <a:latin typeface="Aptos"/>
              </a:defRPr>
            </a:pPr>
            <a:r>
              <a:rPr sz="1000">
                <a:solidFill>
                  <a:srgbClr val="413A4C"/>
                </a:solidFill>
                <a:latin typeface="Aptos"/>
              </a:rPr>
              <a:t>• Centralise core hospital operations</a:t>
            </a:r>
          </a:p>
          <a:p>
            <a:pPr algn="l">
              <a:spcAft>
                <a:spcPts val="600"/>
              </a:spcAft>
              <a:defRPr sz="1500" b="0">
                <a:solidFill>
                  <a:srgbClr val="373541"/>
                </a:solidFill>
                <a:latin typeface="Aptos"/>
              </a:defRPr>
            </a:pPr>
            <a:r>
              <a:rPr sz="1000">
                <a:solidFill>
                  <a:srgbClr val="413A4C"/>
                </a:solidFill>
                <a:latin typeface="Aptos"/>
              </a:rPr>
              <a:t>• Maintain patient and doctor records</a:t>
            </a:r>
          </a:p>
          <a:p>
            <a:pPr algn="l">
              <a:spcAft>
                <a:spcPts val="600"/>
              </a:spcAft>
              <a:defRPr sz="1500" b="0">
                <a:solidFill>
                  <a:srgbClr val="373541"/>
                </a:solidFill>
                <a:latin typeface="Aptos"/>
              </a:defRPr>
            </a:pPr>
            <a:r>
              <a:rPr sz="1000">
                <a:solidFill>
                  <a:srgbClr val="413A4C"/>
                </a:solidFill>
                <a:latin typeface="Aptos"/>
              </a:rPr>
              <a:t>• Track bed and ward occupancy</a:t>
            </a:r>
          </a:p>
          <a:p>
            <a:pPr algn="l">
              <a:spcAft>
                <a:spcPts val="600"/>
              </a:spcAft>
              <a:defRPr sz="1500" b="0">
                <a:solidFill>
                  <a:srgbClr val="373541"/>
                </a:solidFill>
                <a:latin typeface="Aptos"/>
              </a:defRPr>
            </a:pPr>
            <a:r>
              <a:rPr sz="1000">
                <a:solidFill>
                  <a:srgbClr val="413A4C"/>
                </a:solidFill>
                <a:latin typeface="Aptos"/>
              </a:rPr>
              <a:t>• Identify appointment conflicts</a:t>
            </a:r>
          </a:p>
          <a:p>
            <a:pPr algn="l">
              <a:spcAft>
                <a:spcPts val="600"/>
              </a:spcAft>
              <a:defRPr sz="1500" b="0">
                <a:solidFill>
                  <a:srgbClr val="373541"/>
                </a:solidFill>
                <a:latin typeface="Aptos"/>
              </a:defRPr>
            </a:pPr>
            <a:r>
              <a:rPr sz="1000">
                <a:solidFill>
                  <a:srgbClr val="413A4C"/>
                </a:solidFill>
                <a:latin typeface="Aptos"/>
              </a:rPr>
              <a:t>• Demonstrate algorithms for search and resource allocation</a:t>
            </a:r>
          </a:p>
          <a:p>
            <a:pPr algn="l">
              <a:spcAft>
                <a:spcPts val="600"/>
              </a:spcAft>
              <a:defRPr sz="1500" b="0">
                <a:solidFill>
                  <a:srgbClr val="373541"/>
                </a:solidFill>
                <a:latin typeface="Aptos"/>
              </a:defRPr>
            </a:pPr>
            <a:r>
              <a:rPr sz="1000">
                <a:solidFill>
                  <a:srgbClr val="413A4C"/>
                </a:solidFill>
                <a:latin typeface="Aptos"/>
              </a:rPr>
              <a:t>• Organise emergency, inventory, pharmacy, lab and billing information</a:t>
            </a:r>
          </a:p>
        </p:txBody>
      </p:sp>
      <p:pic>
        <p:nvPicPr>
          <p:cNvPr id="14" name="Picture 13"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04 • ALGORITHMIC FOUNDATIONS</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Literature Survey</a:t>
            </a:r>
          </a:p>
        </p:txBody>
      </p:sp>
      <p:sp>
        <p:nvSpPr>
          <p:cNvPr id="4" name="Rectangle 3"/>
          <p:cNvSpPr/>
          <p:nvPr/>
        </p:nvSpPr>
        <p:spPr>
          <a:xfrm>
            <a:off x="658368" y="987552"/>
            <a:ext cx="960120" cy="50292"/>
          </a:xfrm>
          <a:prstGeom prst="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05</a:t>
            </a:r>
          </a:p>
        </p:txBody>
      </p:sp>
      <p:sp>
        <p:nvSpPr>
          <p:cNvPr id="6" name="Rounded Rectangle 5"/>
          <p:cNvSpPr/>
          <p:nvPr/>
        </p:nvSpPr>
        <p:spPr>
          <a:xfrm>
            <a:off x="731520" y="1325880"/>
            <a:ext cx="3520440" cy="3520440"/>
          </a:xfrm>
          <a:prstGeom prst="round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Rectangle 6"/>
          <p:cNvSpPr/>
          <p:nvPr/>
        </p:nvSpPr>
        <p:spPr>
          <a:xfrm>
            <a:off x="731520" y="1325880"/>
            <a:ext cx="73152" cy="3520440"/>
          </a:xfrm>
          <a:prstGeom prst="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914400" y="1463039"/>
            <a:ext cx="319125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CLRS — Introduction to Algorithms</a:t>
            </a:r>
          </a:p>
        </p:txBody>
      </p:sp>
      <p:sp>
        <p:nvSpPr>
          <p:cNvPr id="9" name="TextBox 8"/>
          <p:cNvSpPr txBox="1"/>
          <p:nvPr/>
        </p:nvSpPr>
        <p:spPr>
          <a:xfrm>
            <a:off x="914400" y="1847088"/>
            <a:ext cx="3172968" cy="292608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Foundation for string matching, dynamic programming, network flow, approximation and randomized algorithms.</a:t>
            </a:r>
          </a:p>
        </p:txBody>
      </p:sp>
      <p:sp>
        <p:nvSpPr>
          <p:cNvPr id="10" name="Rounded Rectangle 9"/>
          <p:cNvSpPr/>
          <p:nvPr/>
        </p:nvSpPr>
        <p:spPr>
          <a:xfrm>
            <a:off x="4343400" y="1325880"/>
            <a:ext cx="3520440" cy="352044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1" name="Rectangle 10"/>
          <p:cNvSpPr/>
          <p:nvPr/>
        </p:nvSpPr>
        <p:spPr>
          <a:xfrm>
            <a:off x="4343400" y="1325880"/>
            <a:ext cx="73152" cy="3520440"/>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TextBox 11"/>
          <p:cNvSpPr txBox="1"/>
          <p:nvPr/>
        </p:nvSpPr>
        <p:spPr>
          <a:xfrm>
            <a:off x="4526280" y="1463039"/>
            <a:ext cx="319125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Kleinberg &amp; Tardos — Algorithm Design</a:t>
            </a:r>
          </a:p>
        </p:txBody>
      </p:sp>
      <p:sp>
        <p:nvSpPr>
          <p:cNvPr id="13" name="TextBox 12"/>
          <p:cNvSpPr txBox="1"/>
          <p:nvPr/>
        </p:nvSpPr>
        <p:spPr>
          <a:xfrm>
            <a:off x="4526280" y="1847088"/>
            <a:ext cx="3172968" cy="292608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Design strategies for optimisation, scheduling, network flow, reductions and approximation.</a:t>
            </a:r>
          </a:p>
        </p:txBody>
      </p:sp>
      <p:sp>
        <p:nvSpPr>
          <p:cNvPr id="14" name="Rounded Rectangle 13"/>
          <p:cNvSpPr/>
          <p:nvPr/>
        </p:nvSpPr>
        <p:spPr>
          <a:xfrm>
            <a:off x="7955279" y="1325880"/>
            <a:ext cx="3520440" cy="352044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5" name="Rectangle 14"/>
          <p:cNvSpPr/>
          <p:nvPr/>
        </p:nvSpPr>
        <p:spPr>
          <a:xfrm>
            <a:off x="7955279" y="1325880"/>
            <a:ext cx="73152" cy="3520440"/>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6" name="TextBox 15"/>
          <p:cNvSpPr txBox="1"/>
          <p:nvPr/>
        </p:nvSpPr>
        <p:spPr>
          <a:xfrm>
            <a:off x="8138159" y="1463039"/>
            <a:ext cx="319125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Jeff Erickson — Algorithms</a:t>
            </a:r>
          </a:p>
        </p:txBody>
      </p:sp>
      <p:sp>
        <p:nvSpPr>
          <p:cNvPr id="17" name="TextBox 16"/>
          <p:cNvSpPr txBox="1"/>
          <p:nvPr/>
        </p:nvSpPr>
        <p:spPr>
          <a:xfrm>
            <a:off x="8138159" y="1847088"/>
            <a:ext cx="3172968" cy="292608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Conceptual explanations of algorithm design, correctness and computational complexity.</a:t>
            </a:r>
          </a:p>
        </p:txBody>
      </p:sp>
      <p:sp>
        <p:nvSpPr>
          <p:cNvPr id="18" name="TextBox 17"/>
          <p:cNvSpPr txBox="1"/>
          <p:nvPr/>
        </p:nvSpPr>
        <p:spPr>
          <a:xfrm>
            <a:off x="868680" y="5257800"/>
            <a:ext cx="10424160" cy="685800"/>
          </a:xfrm>
          <a:prstGeom prst="rect">
            <a:avLst/>
          </a:prstGeom>
          <a:noFill/>
        </p:spPr>
        <p:txBody>
          <a:bodyPr wrap="square" lIns="88900" tIns="50800" rIns="88900" bIns="50800" anchor="ctr">
            <a:spAutoFit/>
          </a:bodyPr>
          <a:lstStyle/>
          <a:p>
            <a:pPr algn="l"/>
            <a:r>
              <a:rPr sz="1000">
                <a:solidFill>
                  <a:srgbClr val="413A4C"/>
                </a:solidFill>
                <a:latin typeface="Aptos"/>
              </a:rPr>
              <a:t>Research gap: Hospital Bed Scheduling System connects standard algorithm families to a practical hospital workflow, helping learners explore searching, scheduling and resource planning in one system.</a:t>
            </a:r>
          </a:p>
        </p:txBody>
      </p:sp>
      <p:sp>
        <p:nvSpPr>
          <p:cNvPr id="19" name="TextBox 18"/>
          <p:cNvSpPr txBox="1"/>
          <p:nvPr/>
        </p:nvSpPr>
        <p:spPr>
          <a:xfrm>
            <a:off x="868680" y="5989320"/>
            <a:ext cx="10424160" cy="228600"/>
          </a:xfrm>
          <a:prstGeom prst="rect">
            <a:avLst/>
          </a:prstGeom>
          <a:noFill/>
        </p:spPr>
        <p:txBody>
          <a:bodyPr wrap="square" lIns="88900" tIns="50800" rIns="88900" bIns="50800" anchor="ctr">
            <a:spAutoFit/>
          </a:bodyPr>
          <a:lstStyle/>
          <a:p>
            <a:pPr algn="l">
              <a:spcAft>
                <a:spcPts val="600"/>
              </a:spcAft>
              <a:defRPr sz="1000" b="0">
                <a:solidFill>
                  <a:srgbClr val="686574"/>
                </a:solidFill>
                <a:latin typeface="Aptos"/>
              </a:defRPr>
            </a:pPr>
            <a:r>
              <a:rPr sz="1000">
                <a:solidFill>
                  <a:srgbClr val="413A4C"/>
                </a:solidFill>
                <a:latin typeface="Aptos"/>
              </a:rPr>
              <a:t>Use the exact editions and chapter references prescribed by your course.</a:t>
            </a:r>
          </a:p>
        </p:txBody>
      </p:sp>
      <p:pic>
        <p:nvPicPr>
          <p:cNvPr id="20" name="Picture 19"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05 • WORKFLOW</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r>
              <a:rPr sz="2200" b="1">
                <a:solidFill>
                  <a:srgbClr val="35284B"/>
                </a:solidFill>
                <a:latin typeface="Aptos"/>
              </a:rPr>
              <a:t>Hospital Bed Scheduling System System Flowchart</a:t>
            </a:r>
          </a:p>
        </p:txBody>
      </p:sp>
      <p:sp>
        <p:nvSpPr>
          <p:cNvPr id="4" name="Rectangle 3"/>
          <p:cNvSpPr/>
          <p:nvPr/>
        </p:nvSpPr>
        <p:spPr>
          <a:xfrm>
            <a:off x="658368" y="987552"/>
            <a:ext cx="960120" cy="50292"/>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06</a:t>
            </a:r>
          </a:p>
        </p:txBody>
      </p:sp>
      <p:sp>
        <p:nvSpPr>
          <p:cNvPr id="6" name="Rounded Rectangle 5"/>
          <p:cNvSpPr/>
          <p:nvPr/>
        </p:nvSpPr>
        <p:spPr>
          <a:xfrm>
            <a:off x="4709160" y="1234440"/>
            <a:ext cx="2743200" cy="502920"/>
          </a:xfrm>
          <a:prstGeom prst="round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TextBox 6"/>
          <p:cNvSpPr txBox="1"/>
          <p:nvPr/>
        </p:nvSpPr>
        <p:spPr>
          <a:xfrm>
            <a:off x="4800600" y="1371600"/>
            <a:ext cx="2560320" cy="201168"/>
          </a:xfrm>
          <a:prstGeom prst="rect">
            <a:avLst/>
          </a:prstGeom>
          <a:noFill/>
        </p:spPr>
        <p:txBody>
          <a:bodyPr wrap="square" lIns="88900" tIns="50800" rIns="88900" bIns="50800" anchor="ctr">
            <a:spAutoFit/>
          </a:bodyPr>
          <a:lstStyle/>
          <a:p>
            <a:pPr algn="l"/>
            <a:r>
              <a:rPr sz="1000">
                <a:solidFill>
                  <a:srgbClr val="413A4C"/>
                </a:solidFill>
                <a:latin typeface="Aptos"/>
              </a:rPr>
              <a:t>Start / Open Hospital Bed Scheduling System</a:t>
            </a:r>
          </a:p>
        </p:txBody>
      </p:sp>
      <p:sp>
        <p:nvSpPr>
          <p:cNvPr id="8" name="Rounded Rectangle 7"/>
          <p:cNvSpPr/>
          <p:nvPr/>
        </p:nvSpPr>
        <p:spPr>
          <a:xfrm>
            <a:off x="4709160" y="2011680"/>
            <a:ext cx="2743200" cy="50292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9" name="TextBox 8"/>
          <p:cNvSpPr txBox="1"/>
          <p:nvPr/>
        </p:nvSpPr>
        <p:spPr>
          <a:xfrm>
            <a:off x="4800600" y="2148840"/>
            <a:ext cx="2560320" cy="201168"/>
          </a:xfrm>
          <a:prstGeom prst="rect">
            <a:avLst/>
          </a:prstGeom>
          <a:noFill/>
        </p:spPr>
        <p:txBody>
          <a:bodyPr wrap="square" lIns="88900" tIns="50800" rIns="88900" bIns="50800" anchor="ctr">
            <a:spAutoFit/>
          </a:bodyPr>
          <a:lstStyle/>
          <a:p>
            <a:pPr algn="l">
              <a:spcAft>
                <a:spcPts val="600"/>
              </a:spcAft>
              <a:defRPr sz="1400" b="1">
                <a:solidFill>
                  <a:srgbClr val="2B2643"/>
                </a:solidFill>
                <a:latin typeface="Aptos"/>
              </a:defRPr>
            </a:pPr>
            <a:r>
              <a:rPr sz="1000">
                <a:solidFill>
                  <a:srgbClr val="413A4C"/>
                </a:solidFill>
                <a:latin typeface="Aptos"/>
              </a:rPr>
              <a:t>Dashboard</a:t>
            </a:r>
          </a:p>
        </p:txBody>
      </p:sp>
      <p:cxnSp>
        <p:nvCxnSpPr>
          <p:cNvPr id="10" name="Connector 9"/>
          <p:cNvCxnSpPr/>
          <p:nvPr/>
        </p:nvCxnSpPr>
        <p:spPr>
          <a:xfrm>
            <a:off x="6080760" y="1737360"/>
            <a:ext cx="0" cy="274320"/>
          </a:xfrm>
          <a:prstGeom prst="line">
            <a:avLst/>
          </a:prstGeom>
          <a:ln w="25400">
            <a:solidFill>
              <a:srgbClr val="745BA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80760" y="2514600"/>
            <a:ext cx="0" cy="365760"/>
          </a:xfrm>
          <a:prstGeom prst="line">
            <a:avLst/>
          </a:prstGeom>
          <a:ln w="25400">
            <a:solidFill>
              <a:srgbClr val="745BA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80760" y="4251960"/>
            <a:ext cx="0" cy="365760"/>
          </a:xfrm>
          <a:prstGeom prst="line">
            <a:avLst/>
          </a:prstGeom>
          <a:ln w="25400">
            <a:solidFill>
              <a:srgbClr val="745BA6"/>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4400" y="2880360"/>
            <a:ext cx="10332720" cy="137160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4" name="Rounded Rectangle 13"/>
          <p:cNvSpPr/>
          <p:nvPr/>
        </p:nvSpPr>
        <p:spPr>
          <a:xfrm>
            <a:off x="1051560" y="3246120"/>
            <a:ext cx="1508760" cy="59436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5" name="TextBox 14"/>
          <p:cNvSpPr txBox="1"/>
          <p:nvPr/>
        </p:nvSpPr>
        <p:spPr>
          <a:xfrm>
            <a:off x="1078992" y="3401568"/>
            <a:ext cx="1453896" cy="274320"/>
          </a:xfrm>
          <a:prstGeom prst="rect">
            <a:avLst/>
          </a:prstGeom>
          <a:noFill/>
        </p:spPr>
        <p:txBody>
          <a:bodyPr wrap="square" lIns="88900" tIns="50800" rIns="88900" bIns="50800" anchor="ctr">
            <a:spAutoFit/>
          </a:bodyPr>
          <a:lstStyle/>
          <a:p>
            <a:pPr algn="l">
              <a:spcAft>
                <a:spcPts val="600"/>
              </a:spcAft>
              <a:defRPr sz="1000" b="1">
                <a:solidFill>
                  <a:srgbClr val="2B2643"/>
                </a:solidFill>
                <a:latin typeface="Aptos"/>
              </a:defRPr>
            </a:pPr>
            <a:r>
              <a:rPr sz="1000">
                <a:solidFill>
                  <a:srgbClr val="413A4C"/>
                </a:solidFill>
                <a:latin typeface="Aptos"/>
              </a:rPr>
              <a:t>Patient &amp; Doctor</a:t>
            </a:r>
          </a:p>
        </p:txBody>
      </p:sp>
      <p:sp>
        <p:nvSpPr>
          <p:cNvPr id="16" name="Rounded Rectangle 15"/>
          <p:cNvSpPr/>
          <p:nvPr/>
        </p:nvSpPr>
        <p:spPr>
          <a:xfrm>
            <a:off x="2743200" y="3246120"/>
            <a:ext cx="1508760" cy="594360"/>
          </a:xfrm>
          <a:prstGeom prst="round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7" name="TextBox 16"/>
          <p:cNvSpPr txBox="1"/>
          <p:nvPr/>
        </p:nvSpPr>
        <p:spPr>
          <a:xfrm>
            <a:off x="2770632" y="3401568"/>
            <a:ext cx="1453896" cy="274320"/>
          </a:xfrm>
          <a:prstGeom prst="rect">
            <a:avLst/>
          </a:prstGeom>
          <a:noFill/>
        </p:spPr>
        <p:txBody>
          <a:bodyPr wrap="square" lIns="88900" tIns="50800" rIns="88900" bIns="50800" anchor="ctr">
            <a:spAutoFit/>
          </a:bodyPr>
          <a:lstStyle/>
          <a:p>
            <a:pPr algn="l">
              <a:spcAft>
                <a:spcPts val="600"/>
              </a:spcAft>
              <a:defRPr sz="1000" b="1">
                <a:solidFill>
                  <a:srgbClr val="2B2643"/>
                </a:solidFill>
                <a:latin typeface="Aptos"/>
              </a:defRPr>
            </a:pPr>
            <a:r>
              <a:rPr sz="1000">
                <a:solidFill>
                  <a:srgbClr val="413A4C"/>
                </a:solidFill>
                <a:latin typeface="Aptos"/>
              </a:rPr>
              <a:t>Appointments</a:t>
            </a:r>
          </a:p>
        </p:txBody>
      </p:sp>
      <p:sp>
        <p:nvSpPr>
          <p:cNvPr id="18" name="Rounded Rectangle 17"/>
          <p:cNvSpPr/>
          <p:nvPr/>
        </p:nvSpPr>
        <p:spPr>
          <a:xfrm>
            <a:off x="4434840" y="3246120"/>
            <a:ext cx="1508760" cy="59436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9" name="TextBox 18"/>
          <p:cNvSpPr txBox="1"/>
          <p:nvPr/>
        </p:nvSpPr>
        <p:spPr>
          <a:xfrm>
            <a:off x="4462272" y="3401568"/>
            <a:ext cx="1453896" cy="274320"/>
          </a:xfrm>
          <a:prstGeom prst="rect">
            <a:avLst/>
          </a:prstGeom>
          <a:noFill/>
        </p:spPr>
        <p:txBody>
          <a:bodyPr wrap="square" lIns="88900" tIns="50800" rIns="88900" bIns="50800" anchor="ctr">
            <a:spAutoFit/>
          </a:bodyPr>
          <a:lstStyle/>
          <a:p>
            <a:pPr algn="l">
              <a:spcAft>
                <a:spcPts val="600"/>
              </a:spcAft>
              <a:defRPr sz="1000" b="1">
                <a:solidFill>
                  <a:srgbClr val="2B2643"/>
                </a:solidFill>
                <a:latin typeface="Aptos"/>
              </a:defRPr>
            </a:pPr>
            <a:r>
              <a:rPr sz="1000">
                <a:solidFill>
                  <a:srgbClr val="413A4C"/>
                </a:solidFill>
                <a:latin typeface="Aptos"/>
              </a:rPr>
              <a:t>Beds &amp; Wards</a:t>
            </a:r>
          </a:p>
        </p:txBody>
      </p:sp>
      <p:sp>
        <p:nvSpPr>
          <p:cNvPr id="20" name="Rounded Rectangle 19"/>
          <p:cNvSpPr/>
          <p:nvPr/>
        </p:nvSpPr>
        <p:spPr>
          <a:xfrm>
            <a:off x="6126480" y="3246120"/>
            <a:ext cx="1508760" cy="594360"/>
          </a:xfrm>
          <a:prstGeom prst="round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21" name="TextBox 20"/>
          <p:cNvSpPr txBox="1"/>
          <p:nvPr/>
        </p:nvSpPr>
        <p:spPr>
          <a:xfrm>
            <a:off x="6153912" y="3401568"/>
            <a:ext cx="1453896" cy="274320"/>
          </a:xfrm>
          <a:prstGeom prst="rect">
            <a:avLst/>
          </a:prstGeom>
          <a:noFill/>
        </p:spPr>
        <p:txBody>
          <a:bodyPr wrap="square" lIns="88900" tIns="50800" rIns="88900" bIns="50800" anchor="ctr">
            <a:spAutoFit/>
          </a:bodyPr>
          <a:lstStyle/>
          <a:p>
            <a:pPr algn="l">
              <a:spcAft>
                <a:spcPts val="600"/>
              </a:spcAft>
              <a:defRPr sz="1000" b="1">
                <a:solidFill>
                  <a:srgbClr val="2B2643"/>
                </a:solidFill>
                <a:latin typeface="Aptos"/>
              </a:defRPr>
            </a:pPr>
            <a:r>
              <a:rPr sz="1000">
                <a:solidFill>
                  <a:srgbClr val="413A4C"/>
                </a:solidFill>
                <a:latin typeface="Aptos"/>
              </a:rPr>
              <a:t>Emergency</a:t>
            </a:r>
          </a:p>
        </p:txBody>
      </p:sp>
      <p:sp>
        <p:nvSpPr>
          <p:cNvPr id="22" name="Rounded Rectangle 21"/>
          <p:cNvSpPr/>
          <p:nvPr/>
        </p:nvSpPr>
        <p:spPr>
          <a:xfrm>
            <a:off x="7818120" y="3246120"/>
            <a:ext cx="1508760" cy="594360"/>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23" name="TextBox 22"/>
          <p:cNvSpPr txBox="1"/>
          <p:nvPr/>
        </p:nvSpPr>
        <p:spPr>
          <a:xfrm>
            <a:off x="7845552" y="3401568"/>
            <a:ext cx="1453896" cy="274320"/>
          </a:xfrm>
          <a:prstGeom prst="rect">
            <a:avLst/>
          </a:prstGeom>
          <a:noFill/>
        </p:spPr>
        <p:txBody>
          <a:bodyPr wrap="square" lIns="88900" tIns="50800" rIns="88900" bIns="50800" anchor="ctr">
            <a:spAutoFit/>
          </a:bodyPr>
          <a:lstStyle/>
          <a:p>
            <a:pPr algn="l">
              <a:spcAft>
                <a:spcPts val="600"/>
              </a:spcAft>
              <a:defRPr sz="1000" b="1">
                <a:solidFill>
                  <a:srgbClr val="2B2643"/>
                </a:solidFill>
                <a:latin typeface="Aptos"/>
              </a:defRPr>
            </a:pPr>
            <a:r>
              <a:rPr sz="1000">
                <a:solidFill>
                  <a:srgbClr val="413A4C"/>
                </a:solidFill>
                <a:latin typeface="Aptos"/>
              </a:rPr>
              <a:t>Inventory / Lab</a:t>
            </a:r>
          </a:p>
        </p:txBody>
      </p:sp>
      <p:sp>
        <p:nvSpPr>
          <p:cNvPr id="24" name="Rounded Rectangle 23"/>
          <p:cNvSpPr/>
          <p:nvPr/>
        </p:nvSpPr>
        <p:spPr>
          <a:xfrm>
            <a:off x="9509760" y="3246120"/>
            <a:ext cx="1508760" cy="59436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25" name="TextBox 24"/>
          <p:cNvSpPr txBox="1"/>
          <p:nvPr/>
        </p:nvSpPr>
        <p:spPr>
          <a:xfrm>
            <a:off x="9537192" y="3401568"/>
            <a:ext cx="1453896" cy="274320"/>
          </a:xfrm>
          <a:prstGeom prst="rect">
            <a:avLst/>
          </a:prstGeom>
          <a:noFill/>
        </p:spPr>
        <p:txBody>
          <a:bodyPr wrap="square" lIns="88900" tIns="50800" rIns="88900" bIns="50800" anchor="ctr">
            <a:spAutoFit/>
          </a:bodyPr>
          <a:lstStyle/>
          <a:p>
            <a:pPr algn="l">
              <a:spcAft>
                <a:spcPts val="600"/>
              </a:spcAft>
              <a:defRPr sz="1000" b="1">
                <a:solidFill>
                  <a:srgbClr val="2B2643"/>
                </a:solidFill>
                <a:latin typeface="Aptos"/>
              </a:defRPr>
            </a:pPr>
            <a:r>
              <a:rPr sz="1000">
                <a:solidFill>
                  <a:srgbClr val="413A4C"/>
                </a:solidFill>
                <a:latin typeface="Aptos"/>
              </a:rPr>
              <a:t>Billing</a:t>
            </a:r>
          </a:p>
        </p:txBody>
      </p:sp>
      <p:sp>
        <p:nvSpPr>
          <p:cNvPr id="26" name="Rounded Rectangle 25"/>
          <p:cNvSpPr/>
          <p:nvPr/>
        </p:nvSpPr>
        <p:spPr>
          <a:xfrm>
            <a:off x="4069080" y="4617720"/>
            <a:ext cx="4023360" cy="594360"/>
          </a:xfrm>
          <a:prstGeom prst="round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27" name="TextBox 26"/>
          <p:cNvSpPr txBox="1"/>
          <p:nvPr/>
        </p:nvSpPr>
        <p:spPr>
          <a:xfrm>
            <a:off x="4160520" y="4782312"/>
            <a:ext cx="3840480" cy="246888"/>
          </a:xfrm>
          <a:prstGeom prst="rect">
            <a:avLst/>
          </a:prstGeom>
          <a:noFill/>
        </p:spPr>
        <p:txBody>
          <a:bodyPr wrap="square" lIns="88900" tIns="50800" rIns="88900" bIns="50800" anchor="ctr">
            <a:spAutoFit/>
          </a:bodyPr>
          <a:lstStyle/>
          <a:p>
            <a:pPr algn="l">
              <a:spcAft>
                <a:spcPts val="600"/>
              </a:spcAft>
              <a:defRPr sz="1400" b="1">
                <a:solidFill>
                  <a:srgbClr val="2B2643"/>
                </a:solidFill>
                <a:latin typeface="Aptos"/>
              </a:defRPr>
            </a:pPr>
            <a:r>
              <a:rPr sz="1000">
                <a:solidFill>
                  <a:srgbClr val="413A4C"/>
                </a:solidFill>
                <a:latin typeface="Aptos"/>
              </a:rPr>
              <a:t>Process request and update records</a:t>
            </a:r>
          </a:p>
        </p:txBody>
      </p:sp>
      <p:sp>
        <p:nvSpPr>
          <p:cNvPr id="28" name="Rounded Rectangle 27"/>
          <p:cNvSpPr/>
          <p:nvPr/>
        </p:nvSpPr>
        <p:spPr>
          <a:xfrm>
            <a:off x="4069080" y="5486400"/>
            <a:ext cx="4023360" cy="50292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29" name="TextBox 28"/>
          <p:cNvSpPr txBox="1"/>
          <p:nvPr/>
        </p:nvSpPr>
        <p:spPr>
          <a:xfrm>
            <a:off x="4160520" y="5632704"/>
            <a:ext cx="3840480" cy="228600"/>
          </a:xfrm>
          <a:prstGeom prst="rect">
            <a:avLst/>
          </a:prstGeom>
          <a:noFill/>
        </p:spPr>
        <p:txBody>
          <a:bodyPr wrap="square" lIns="88900" tIns="50800" rIns="88900" bIns="50800" anchor="ctr">
            <a:spAutoFit/>
          </a:bodyPr>
          <a:lstStyle/>
          <a:p>
            <a:pPr algn="l">
              <a:spcAft>
                <a:spcPts val="600"/>
              </a:spcAft>
              <a:defRPr sz="1400" b="1">
                <a:solidFill>
                  <a:srgbClr val="2B2643"/>
                </a:solidFill>
                <a:latin typeface="Aptos"/>
              </a:defRPr>
            </a:pPr>
            <a:r>
              <a:rPr sz="1000">
                <a:solidFill>
                  <a:srgbClr val="413A4C"/>
                </a:solidFill>
                <a:latin typeface="Aptos"/>
              </a:rPr>
              <a:t>Display updated information</a:t>
            </a:r>
          </a:p>
        </p:txBody>
      </p:sp>
      <p:cxnSp>
        <p:nvCxnSpPr>
          <p:cNvPr id="30" name="Connector 29"/>
          <p:cNvCxnSpPr/>
          <p:nvPr/>
        </p:nvCxnSpPr>
        <p:spPr>
          <a:xfrm>
            <a:off x="6080760" y="5212080"/>
            <a:ext cx="0" cy="274320"/>
          </a:xfrm>
          <a:prstGeom prst="line">
            <a:avLst/>
          </a:prstGeom>
          <a:ln w="25400">
            <a:solidFill>
              <a:srgbClr val="745BA6"/>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05840" y="6172200"/>
            <a:ext cx="9601200" cy="201168"/>
          </a:xfrm>
          <a:prstGeom prst="rect">
            <a:avLst/>
          </a:prstGeom>
          <a:noFill/>
        </p:spPr>
        <p:txBody>
          <a:bodyPr wrap="square" lIns="88900" tIns="50800" rIns="88900" bIns="50800" anchor="ctr">
            <a:spAutoFit/>
          </a:bodyPr>
          <a:lstStyle/>
          <a:p>
            <a:pPr algn="l">
              <a:spcAft>
                <a:spcPts val="600"/>
              </a:spcAft>
              <a:defRPr sz="1100" b="0">
                <a:solidFill>
                  <a:srgbClr val="686574"/>
                </a:solidFill>
                <a:latin typeface="Aptos"/>
              </a:defRPr>
            </a:pPr>
            <a:r>
              <a:rPr sz="1000">
                <a:solidFill>
                  <a:srgbClr val="413A4C"/>
                </a:solidFill>
                <a:latin typeface="Aptos"/>
              </a:rPr>
              <a:t>Users can return to the dashboard to perform another operation.</a:t>
            </a:r>
          </a:p>
        </p:txBody>
      </p:sp>
      <p:pic>
        <p:nvPicPr>
          <p:cNvPr id="32" name="Picture 31"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06 • MODULES 1–2</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System Architecture &amp; String Algorithms</a:t>
            </a:r>
          </a:p>
        </p:txBody>
      </p:sp>
      <p:sp>
        <p:nvSpPr>
          <p:cNvPr id="4" name="Rectangle 3"/>
          <p:cNvSpPr/>
          <p:nvPr/>
        </p:nvSpPr>
        <p:spPr>
          <a:xfrm>
            <a:off x="658368" y="987552"/>
            <a:ext cx="960120" cy="50292"/>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07</a:t>
            </a:r>
          </a:p>
        </p:txBody>
      </p:sp>
      <p:sp>
        <p:nvSpPr>
          <p:cNvPr id="6" name="Rounded Rectangle 5"/>
          <p:cNvSpPr/>
          <p:nvPr/>
        </p:nvSpPr>
        <p:spPr>
          <a:xfrm>
            <a:off x="731520" y="1325880"/>
            <a:ext cx="5257800" cy="1828800"/>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Rectangle 6"/>
          <p:cNvSpPr/>
          <p:nvPr/>
        </p:nvSpPr>
        <p:spPr>
          <a:xfrm>
            <a:off x="731520" y="1325880"/>
            <a:ext cx="73152" cy="1828800"/>
          </a:xfrm>
          <a:prstGeom prst="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914400" y="1463039"/>
            <a:ext cx="4928616" cy="310896"/>
          </a:xfrm>
          <a:prstGeom prst="rect">
            <a:avLst/>
          </a:prstGeom>
          <a:noFill/>
        </p:spPr>
        <p:txBody>
          <a:bodyPr wrap="square" lIns="88900" tIns="50800" rIns="88900" bIns="50800" anchor="ctr">
            <a:spAutoFit/>
          </a:bodyPr>
          <a:lstStyle/>
          <a:p>
            <a:pPr algn="l"/>
            <a:r>
              <a:rPr sz="1000">
                <a:solidFill>
                  <a:srgbClr val="413A4C"/>
                </a:solidFill>
                <a:latin typeface="Aptos"/>
              </a:rPr>
              <a:t>Module 1: Hospital Bed Scheduling System as a system</a:t>
            </a:r>
          </a:p>
        </p:txBody>
      </p:sp>
      <p:sp>
        <p:nvSpPr>
          <p:cNvPr id="9" name="TextBox 8"/>
          <p:cNvSpPr txBox="1"/>
          <p:nvPr/>
        </p:nvSpPr>
        <p:spPr>
          <a:xfrm>
            <a:off x="914400" y="1847088"/>
            <a:ext cx="4910328" cy="123444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Dashboard connects patient, doctor, appointment, bed, emergency, inventory, pharmacy, lab and billing pages. Each task is mapped to an appropriate operation or algorithm.</a:t>
            </a:r>
          </a:p>
        </p:txBody>
      </p:sp>
      <p:sp>
        <p:nvSpPr>
          <p:cNvPr id="10" name="Rounded Rectangle 9"/>
          <p:cNvSpPr/>
          <p:nvPr/>
        </p:nvSpPr>
        <p:spPr>
          <a:xfrm>
            <a:off x="6217920" y="1325880"/>
            <a:ext cx="5257800" cy="1828800"/>
          </a:xfrm>
          <a:prstGeom prst="round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1" name="Rectangle 10"/>
          <p:cNvSpPr/>
          <p:nvPr/>
        </p:nvSpPr>
        <p:spPr>
          <a:xfrm>
            <a:off x="6217920" y="1325880"/>
            <a:ext cx="73152" cy="1828800"/>
          </a:xfrm>
          <a:prstGeom prst="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TextBox 11"/>
          <p:cNvSpPr txBox="1"/>
          <p:nvPr/>
        </p:nvSpPr>
        <p:spPr>
          <a:xfrm>
            <a:off x="6400800" y="1463039"/>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System flow</a:t>
            </a:r>
          </a:p>
        </p:txBody>
      </p:sp>
      <p:sp>
        <p:nvSpPr>
          <p:cNvPr id="13" name="TextBox 12"/>
          <p:cNvSpPr txBox="1"/>
          <p:nvPr/>
        </p:nvSpPr>
        <p:spPr>
          <a:xfrm>
            <a:off x="6400800" y="1847088"/>
            <a:ext cx="4910328" cy="123444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User action → validate/search records → process operation → display result and update the interface.</a:t>
            </a:r>
          </a:p>
        </p:txBody>
      </p:sp>
      <p:sp>
        <p:nvSpPr>
          <p:cNvPr id="14" name="Rounded Rectangle 13"/>
          <p:cNvSpPr/>
          <p:nvPr/>
        </p:nvSpPr>
        <p:spPr>
          <a:xfrm>
            <a:off x="731520" y="3520440"/>
            <a:ext cx="5257800" cy="1828800"/>
          </a:xfrm>
          <a:prstGeom prst="round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5" name="Rectangle 14"/>
          <p:cNvSpPr/>
          <p:nvPr/>
        </p:nvSpPr>
        <p:spPr>
          <a:xfrm>
            <a:off x="731520" y="3520440"/>
            <a:ext cx="73152" cy="1828800"/>
          </a:xfrm>
          <a:prstGeom prst="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6" name="TextBox 15"/>
          <p:cNvSpPr txBox="1"/>
          <p:nvPr/>
        </p:nvSpPr>
        <p:spPr>
          <a:xfrm>
            <a:off x="914400" y="3657600"/>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Module 2: String algorithms</a:t>
            </a:r>
          </a:p>
        </p:txBody>
      </p:sp>
      <p:sp>
        <p:nvSpPr>
          <p:cNvPr id="17" name="TextBox 16"/>
          <p:cNvSpPr txBox="1"/>
          <p:nvPr/>
        </p:nvSpPr>
        <p:spPr>
          <a:xfrm>
            <a:off x="914400" y="4041648"/>
            <a:ext cx="4910328" cy="123444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Naïve search, KMP, Z-function, Rabin–Karp and multi-pattern matching demonstrate exact and efficient text search.</a:t>
            </a:r>
          </a:p>
        </p:txBody>
      </p:sp>
      <p:sp>
        <p:nvSpPr>
          <p:cNvPr id="18" name="Rounded Rectangle 17"/>
          <p:cNvSpPr/>
          <p:nvPr/>
        </p:nvSpPr>
        <p:spPr>
          <a:xfrm>
            <a:off x="6217920" y="3520440"/>
            <a:ext cx="5257800" cy="182880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9" name="Rectangle 18"/>
          <p:cNvSpPr/>
          <p:nvPr/>
        </p:nvSpPr>
        <p:spPr>
          <a:xfrm>
            <a:off x="6217920" y="3520440"/>
            <a:ext cx="73152" cy="1828800"/>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20" name="TextBox 19"/>
          <p:cNvSpPr txBox="1"/>
          <p:nvPr/>
        </p:nvSpPr>
        <p:spPr>
          <a:xfrm>
            <a:off x="6400800" y="3657600"/>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Application</a:t>
            </a:r>
          </a:p>
        </p:txBody>
      </p:sp>
      <p:sp>
        <p:nvSpPr>
          <p:cNvPr id="21" name="TextBox 20"/>
          <p:cNvSpPr txBox="1"/>
          <p:nvPr/>
        </p:nvSpPr>
        <p:spPr>
          <a:xfrm>
            <a:off x="6400800" y="4041648"/>
            <a:ext cx="4910328" cy="123444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Efficient matching can support quick lookup of patient, doctor, ward or inventory records as data grows.</a:t>
            </a:r>
          </a:p>
        </p:txBody>
      </p:sp>
      <p:pic>
        <p:nvPicPr>
          <p:cNvPr id="22" name="Picture 21"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07 • MODULE 3</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Advanced Dynamic Programming</a:t>
            </a:r>
          </a:p>
        </p:txBody>
      </p:sp>
      <p:sp>
        <p:nvSpPr>
          <p:cNvPr id="4" name="Rectangle 3"/>
          <p:cNvSpPr/>
          <p:nvPr/>
        </p:nvSpPr>
        <p:spPr>
          <a:xfrm>
            <a:off x="658368" y="987552"/>
            <a:ext cx="960120" cy="50292"/>
          </a:xfrm>
          <a:prstGeom prst="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08</a:t>
            </a:r>
          </a:p>
        </p:txBody>
      </p:sp>
      <p:sp>
        <p:nvSpPr>
          <p:cNvPr id="6" name="Rounded Rectangle 5"/>
          <p:cNvSpPr/>
          <p:nvPr/>
        </p:nvSpPr>
        <p:spPr>
          <a:xfrm>
            <a:off x="731520" y="1325880"/>
            <a:ext cx="5257800" cy="434340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Rectangle 6"/>
          <p:cNvSpPr/>
          <p:nvPr/>
        </p:nvSpPr>
        <p:spPr>
          <a:xfrm>
            <a:off x="731520" y="1325880"/>
            <a:ext cx="73152" cy="4343400"/>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914400" y="1463039"/>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Algorithm concepts</a:t>
            </a:r>
          </a:p>
        </p:txBody>
      </p:sp>
      <p:sp>
        <p:nvSpPr>
          <p:cNvPr id="9" name="TextBox 8"/>
          <p:cNvSpPr txBox="1"/>
          <p:nvPr/>
        </p:nvSpPr>
        <p:spPr>
          <a:xfrm>
            <a:off x="914400" y="1847088"/>
            <a:ext cx="4910328" cy="3749039"/>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 Edit distance: approximate string comparison</a:t>
            </a:r>
          </a:p>
          <a:p>
            <a:pPr algn="l">
              <a:spcAft>
                <a:spcPts val="600"/>
              </a:spcAft>
              <a:defRPr sz="1400" b="0">
                <a:solidFill>
                  <a:srgbClr val="373541"/>
                </a:solidFill>
                <a:latin typeface="Aptos"/>
              </a:defRPr>
            </a:pPr>
            <a:r>
              <a:rPr sz="1000">
                <a:solidFill>
                  <a:srgbClr val="413A4C"/>
                </a:solidFill>
                <a:latin typeface="Aptos"/>
              </a:rPr>
              <a:t>• Weighted interval scheduling: choose valuable non-overlapping appointments</a:t>
            </a:r>
          </a:p>
          <a:p>
            <a:pPr algn="l">
              <a:spcAft>
                <a:spcPts val="600"/>
              </a:spcAft>
              <a:defRPr sz="1400" b="0">
                <a:solidFill>
                  <a:srgbClr val="373541"/>
                </a:solidFill>
                <a:latin typeface="Aptos"/>
              </a:defRPr>
            </a:pPr>
            <a:r>
              <a:rPr sz="1000">
                <a:solidFill>
                  <a:srgbClr val="413A4C"/>
                </a:solidFill>
                <a:latin typeface="Aptos"/>
              </a:rPr>
              <a:t>• Knapsack DP: choices under a capacity or budget limit</a:t>
            </a:r>
          </a:p>
          <a:p>
            <a:pPr algn="l">
              <a:spcAft>
                <a:spcPts val="600"/>
              </a:spcAft>
              <a:defRPr sz="1400" b="0">
                <a:solidFill>
                  <a:srgbClr val="373541"/>
                </a:solidFill>
                <a:latin typeface="Aptos"/>
              </a:defRPr>
            </a:pPr>
            <a:r>
              <a:rPr sz="1000">
                <a:solidFill>
                  <a:srgbClr val="413A4C"/>
                </a:solidFill>
                <a:latin typeface="Aptos"/>
              </a:rPr>
              <a:t>• Bitmask DP: assignment when resource counts are small</a:t>
            </a:r>
          </a:p>
          <a:p>
            <a:pPr algn="l">
              <a:spcAft>
                <a:spcPts val="600"/>
              </a:spcAft>
              <a:defRPr sz="1400" b="0">
                <a:solidFill>
                  <a:srgbClr val="373541"/>
                </a:solidFill>
                <a:latin typeface="Aptos"/>
              </a:defRPr>
            </a:pPr>
            <a:r>
              <a:rPr sz="1000">
                <a:solidFill>
                  <a:srgbClr val="413A4C"/>
                </a:solidFill>
                <a:latin typeface="Aptos"/>
              </a:rPr>
              <a:t>• Tree DP: choose monitoring points in a floor/ward hierarchy</a:t>
            </a:r>
          </a:p>
          <a:p>
            <a:pPr algn="l">
              <a:spcAft>
                <a:spcPts val="600"/>
              </a:spcAft>
              <a:defRPr sz="1400" b="0">
                <a:solidFill>
                  <a:srgbClr val="373541"/>
                </a:solidFill>
                <a:latin typeface="Aptos"/>
              </a:defRPr>
            </a:pPr>
            <a:r>
              <a:rPr sz="1000">
                <a:solidFill>
                  <a:srgbClr val="413A4C"/>
                </a:solidFill>
                <a:latin typeface="Aptos"/>
              </a:rPr>
              <a:t>• DP works best when subproblems overlap and state transitions are manageable</a:t>
            </a:r>
          </a:p>
        </p:txBody>
      </p:sp>
      <p:sp>
        <p:nvSpPr>
          <p:cNvPr id="10" name="Rounded Rectangle 9"/>
          <p:cNvSpPr/>
          <p:nvPr/>
        </p:nvSpPr>
        <p:spPr>
          <a:xfrm>
            <a:off x="6217920" y="1325880"/>
            <a:ext cx="5257800" cy="4343400"/>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1" name="Rectangle 10"/>
          <p:cNvSpPr/>
          <p:nvPr/>
        </p:nvSpPr>
        <p:spPr>
          <a:xfrm>
            <a:off x="6217920" y="1325880"/>
            <a:ext cx="73152" cy="4343400"/>
          </a:xfrm>
          <a:prstGeom prst="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TextBox 11"/>
          <p:cNvSpPr txBox="1"/>
          <p:nvPr/>
        </p:nvSpPr>
        <p:spPr>
          <a:xfrm>
            <a:off x="6400800" y="1463039"/>
            <a:ext cx="4928616" cy="310896"/>
          </a:xfrm>
          <a:prstGeom prst="rect">
            <a:avLst/>
          </a:prstGeom>
          <a:noFill/>
        </p:spPr>
        <p:txBody>
          <a:bodyPr wrap="square" lIns="88900" tIns="50800" rIns="88900" bIns="50800" anchor="ctr">
            <a:spAutoFit/>
          </a:bodyPr>
          <a:lstStyle/>
          <a:p>
            <a:pPr algn="l"/>
            <a:r>
              <a:rPr sz="1000">
                <a:solidFill>
                  <a:srgbClr val="413A4C"/>
                </a:solidFill>
                <a:latin typeface="Aptos"/>
              </a:rPr>
              <a:t>Hospital Bed Scheduling System applications</a:t>
            </a:r>
          </a:p>
        </p:txBody>
      </p:sp>
      <p:sp>
        <p:nvSpPr>
          <p:cNvPr id="13" name="TextBox 12"/>
          <p:cNvSpPr txBox="1"/>
          <p:nvPr/>
        </p:nvSpPr>
        <p:spPr>
          <a:xfrm>
            <a:off x="6400800" y="1847088"/>
            <a:ext cx="4910328" cy="3749039"/>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 Visualise appointment conflicts and priority weights</a:t>
            </a:r>
          </a:p>
          <a:p>
            <a:pPr algn="l">
              <a:spcAft>
                <a:spcPts val="600"/>
              </a:spcAft>
              <a:defRPr sz="1400" b="0">
                <a:solidFill>
                  <a:srgbClr val="373541"/>
                </a:solidFill>
                <a:latin typeface="Aptos"/>
              </a:defRPr>
            </a:pPr>
            <a:r>
              <a:rPr sz="1000">
                <a:solidFill>
                  <a:srgbClr val="413A4C"/>
                </a:solidFill>
                <a:latin typeface="Aptos"/>
              </a:rPr>
              <a:t>• Model wards, floors and bed groups as a hierarchy</a:t>
            </a:r>
          </a:p>
          <a:p>
            <a:pPr algn="l">
              <a:spcAft>
                <a:spcPts val="600"/>
              </a:spcAft>
              <a:defRPr sz="1400" b="0">
                <a:solidFill>
                  <a:srgbClr val="373541"/>
                </a:solidFill>
                <a:latin typeface="Aptos"/>
              </a:defRPr>
            </a:pPr>
            <a:r>
              <a:rPr sz="1000">
                <a:solidFill>
                  <a:srgbClr val="413A4C"/>
                </a:solidFill>
                <a:latin typeface="Aptos"/>
              </a:rPr>
              <a:t>• Compare feasible schedules and resource assignments</a:t>
            </a:r>
          </a:p>
          <a:p>
            <a:pPr algn="l">
              <a:spcAft>
                <a:spcPts val="600"/>
              </a:spcAft>
              <a:defRPr sz="1400" b="0">
                <a:solidFill>
                  <a:srgbClr val="373541"/>
                </a:solidFill>
                <a:latin typeface="Aptos"/>
              </a:defRPr>
            </a:pPr>
            <a:r>
              <a:rPr sz="1000">
                <a:solidFill>
                  <a:srgbClr val="413A4C"/>
                </a:solidFill>
                <a:latin typeface="Aptos"/>
              </a:rPr>
              <a:t>• Use algorithm demonstrations to explain trade-offs</a:t>
            </a:r>
          </a:p>
          <a:p>
            <a:pPr algn="l">
              <a:spcAft>
                <a:spcPts val="600"/>
              </a:spcAft>
              <a:defRPr sz="1400" b="0">
                <a:solidFill>
                  <a:srgbClr val="373541"/>
                </a:solidFill>
                <a:latin typeface="Aptos"/>
              </a:defRPr>
            </a:pPr>
            <a:r>
              <a:rPr sz="1000">
                <a:solidFill>
                  <a:srgbClr val="413A4C"/>
                </a:solidFill>
                <a:latin typeface="Aptos"/>
              </a:rPr>
              <a:t>• Real hospital decisions must follow clinical policies and be validated before operational use</a:t>
            </a:r>
          </a:p>
        </p:txBody>
      </p:sp>
      <p:pic>
        <p:nvPicPr>
          <p:cNvPr id="14" name="Picture 13"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08 • MODULES 4–6</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Flow, Approximation &amp; Randomised Algorithms</a:t>
            </a:r>
          </a:p>
        </p:txBody>
      </p:sp>
      <p:sp>
        <p:nvSpPr>
          <p:cNvPr id="4" name="Rectangle 3"/>
          <p:cNvSpPr/>
          <p:nvPr/>
        </p:nvSpPr>
        <p:spPr>
          <a:xfrm>
            <a:off x="658368" y="987552"/>
            <a:ext cx="960120" cy="50292"/>
          </a:xfrm>
          <a:prstGeom prst="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09</a:t>
            </a:r>
          </a:p>
        </p:txBody>
      </p:sp>
      <p:sp>
        <p:nvSpPr>
          <p:cNvPr id="6" name="Rounded Rectangle 5"/>
          <p:cNvSpPr/>
          <p:nvPr/>
        </p:nvSpPr>
        <p:spPr>
          <a:xfrm>
            <a:off x="731520" y="1280160"/>
            <a:ext cx="3474720" cy="361188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Rectangle 6"/>
          <p:cNvSpPr/>
          <p:nvPr/>
        </p:nvSpPr>
        <p:spPr>
          <a:xfrm>
            <a:off x="731520" y="1280160"/>
            <a:ext cx="73152" cy="3611880"/>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914400" y="1417319"/>
            <a:ext cx="314553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Network flow</a:t>
            </a:r>
          </a:p>
        </p:txBody>
      </p:sp>
      <p:sp>
        <p:nvSpPr>
          <p:cNvPr id="9" name="TextBox 8"/>
          <p:cNvSpPr txBox="1"/>
          <p:nvPr/>
        </p:nvSpPr>
        <p:spPr>
          <a:xfrm>
            <a:off x="914400" y="1801367"/>
            <a:ext cx="3127248" cy="3017520"/>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Ford–Fulkerson, Edmonds–Karp and min-cut demonstrate capacity-constrained allocation and partitioning. Bipartite matching models compatible assignment problems.</a:t>
            </a:r>
          </a:p>
        </p:txBody>
      </p:sp>
      <p:sp>
        <p:nvSpPr>
          <p:cNvPr id="10" name="Rounded Rectangle 9"/>
          <p:cNvSpPr/>
          <p:nvPr/>
        </p:nvSpPr>
        <p:spPr>
          <a:xfrm>
            <a:off x="4343400" y="1280160"/>
            <a:ext cx="3474720" cy="3611880"/>
          </a:xfrm>
          <a:prstGeom prst="round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1" name="Rectangle 10"/>
          <p:cNvSpPr/>
          <p:nvPr/>
        </p:nvSpPr>
        <p:spPr>
          <a:xfrm>
            <a:off x="4343400" y="1280160"/>
            <a:ext cx="73152" cy="3611880"/>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TextBox 11"/>
          <p:cNvSpPr txBox="1"/>
          <p:nvPr/>
        </p:nvSpPr>
        <p:spPr>
          <a:xfrm>
            <a:off x="4526280" y="1417319"/>
            <a:ext cx="314553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NP-hardness &amp; approximation</a:t>
            </a:r>
          </a:p>
        </p:txBody>
      </p:sp>
      <p:sp>
        <p:nvSpPr>
          <p:cNvPr id="13" name="TextBox 12"/>
          <p:cNvSpPr txBox="1"/>
          <p:nvPr/>
        </p:nvSpPr>
        <p:spPr>
          <a:xfrm>
            <a:off x="4526280" y="1801367"/>
            <a:ext cx="3127248" cy="3017520"/>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Scheduling may be computationally difficult. Approximation algorithms, such as 2-approximation for vertex cover, provide bounded solutions for suitable problems.</a:t>
            </a:r>
          </a:p>
        </p:txBody>
      </p:sp>
      <p:sp>
        <p:nvSpPr>
          <p:cNvPr id="14" name="Rounded Rectangle 13"/>
          <p:cNvSpPr/>
          <p:nvPr/>
        </p:nvSpPr>
        <p:spPr>
          <a:xfrm>
            <a:off x="7955279" y="1280160"/>
            <a:ext cx="3474720" cy="3611880"/>
          </a:xfrm>
          <a:prstGeom prst="round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5" name="Rectangle 14"/>
          <p:cNvSpPr/>
          <p:nvPr/>
        </p:nvSpPr>
        <p:spPr>
          <a:xfrm>
            <a:off x="7955279" y="1280160"/>
            <a:ext cx="73152" cy="3611880"/>
          </a:xfrm>
          <a:prstGeom prst="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6" name="TextBox 15"/>
          <p:cNvSpPr txBox="1"/>
          <p:nvPr/>
        </p:nvSpPr>
        <p:spPr>
          <a:xfrm>
            <a:off x="8138159" y="1417319"/>
            <a:ext cx="314553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Randomised &amp; parallel</a:t>
            </a:r>
          </a:p>
        </p:txBody>
      </p:sp>
      <p:sp>
        <p:nvSpPr>
          <p:cNvPr id="17" name="TextBox 16"/>
          <p:cNvSpPr txBox="1"/>
          <p:nvPr/>
        </p:nvSpPr>
        <p:spPr>
          <a:xfrm>
            <a:off x="8138159" y="1801367"/>
            <a:ext cx="3127248" cy="3017520"/>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Miller–Rabin, randomised selection, reservoir sampling, parallel reduce and prefix-sum demonstrate probabilistic and parallel techniques.</a:t>
            </a:r>
          </a:p>
        </p:txBody>
      </p:sp>
      <p:sp>
        <p:nvSpPr>
          <p:cNvPr id="18" name="TextBox 17"/>
          <p:cNvSpPr txBox="1"/>
          <p:nvPr/>
        </p:nvSpPr>
        <p:spPr>
          <a:xfrm>
            <a:off x="868680" y="5303520"/>
            <a:ext cx="10424160" cy="548640"/>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These are algorithm demonstrations; practical benefits must be established through controlled testing.</a:t>
            </a:r>
          </a:p>
        </p:txBody>
      </p:sp>
      <p:pic>
        <p:nvPicPr>
          <p:cNvPr id="19" name="Picture 18"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09 • IMPLEMENTATION AND EVALUATION</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Requirements &amp; Results</a:t>
            </a:r>
          </a:p>
        </p:txBody>
      </p:sp>
      <p:sp>
        <p:nvSpPr>
          <p:cNvPr id="4" name="Rectangle 3"/>
          <p:cNvSpPr/>
          <p:nvPr/>
        </p:nvSpPr>
        <p:spPr>
          <a:xfrm>
            <a:off x="658368" y="987552"/>
            <a:ext cx="960120" cy="50292"/>
          </a:xfrm>
          <a:prstGeom prst="rect">
            <a:avLst/>
          </a:prstGeom>
          <a:solidFill>
            <a:srgbClr val="FADCC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10</a:t>
            </a:r>
          </a:p>
        </p:txBody>
      </p:sp>
      <p:sp>
        <p:nvSpPr>
          <p:cNvPr id="6" name="Rounded Rectangle 5"/>
          <p:cNvSpPr/>
          <p:nvPr/>
        </p:nvSpPr>
        <p:spPr>
          <a:xfrm>
            <a:off x="731520" y="1280160"/>
            <a:ext cx="5257800" cy="2057400"/>
          </a:xfrm>
          <a:prstGeom prst="round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Rectangle 6"/>
          <p:cNvSpPr/>
          <p:nvPr/>
        </p:nvSpPr>
        <p:spPr>
          <a:xfrm>
            <a:off x="731520" y="1280160"/>
            <a:ext cx="73152" cy="2057400"/>
          </a:xfrm>
          <a:prstGeom prst="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914400" y="1417319"/>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Hardware / software</a:t>
            </a:r>
          </a:p>
        </p:txBody>
      </p:sp>
      <p:sp>
        <p:nvSpPr>
          <p:cNvPr id="9" name="TextBox 8"/>
          <p:cNvSpPr txBox="1"/>
          <p:nvPr/>
        </p:nvSpPr>
        <p:spPr>
          <a:xfrm>
            <a:off x="914400" y="1801367"/>
            <a:ext cx="4910328" cy="1463040"/>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 Laptop/desktop; dual-core or better</a:t>
            </a:r>
          </a:p>
          <a:p>
            <a:pPr algn="l">
              <a:spcAft>
                <a:spcPts val="600"/>
              </a:spcAft>
              <a:defRPr sz="1300" b="0">
                <a:solidFill>
                  <a:srgbClr val="373541"/>
                </a:solidFill>
                <a:latin typeface="Aptos"/>
              </a:defRPr>
            </a:pPr>
            <a:r>
              <a:rPr sz="1000">
                <a:solidFill>
                  <a:srgbClr val="413A4C"/>
                </a:solidFill>
                <a:latin typeface="Aptos"/>
              </a:rPr>
              <a:t>• 4 GB RAM minimum; 8 GB recommended</a:t>
            </a:r>
          </a:p>
          <a:p>
            <a:pPr algn="l">
              <a:spcAft>
                <a:spcPts val="600"/>
              </a:spcAft>
              <a:defRPr sz="1300" b="0">
                <a:solidFill>
                  <a:srgbClr val="373541"/>
                </a:solidFill>
                <a:latin typeface="Aptos"/>
              </a:defRPr>
            </a:pPr>
            <a:r>
              <a:rPr sz="1000">
                <a:solidFill>
                  <a:srgbClr val="413A4C"/>
                </a:solidFill>
                <a:latin typeface="Aptos"/>
              </a:rPr>
              <a:t>• Windows, Linux or macOS</a:t>
            </a:r>
          </a:p>
          <a:p>
            <a:pPr algn="l">
              <a:spcAft>
                <a:spcPts val="600"/>
              </a:spcAft>
              <a:defRPr sz="1300" b="0">
                <a:solidFill>
                  <a:srgbClr val="373541"/>
                </a:solidFill>
                <a:latin typeface="Aptos"/>
              </a:defRPr>
            </a:pPr>
            <a:r>
              <a:rPr sz="1000">
                <a:solidFill>
                  <a:srgbClr val="413A4C"/>
                </a:solidFill>
                <a:latin typeface="Aptos"/>
              </a:rPr>
              <a:t>• HTML, CSS and JavaScript</a:t>
            </a:r>
          </a:p>
          <a:p>
            <a:pPr algn="l">
              <a:spcAft>
                <a:spcPts val="600"/>
              </a:spcAft>
              <a:defRPr sz="1300" b="0">
                <a:solidFill>
                  <a:srgbClr val="373541"/>
                </a:solidFill>
                <a:latin typeface="Aptos"/>
              </a:defRPr>
            </a:pPr>
            <a:r>
              <a:rPr sz="1000">
                <a:solidFill>
                  <a:srgbClr val="413A4C"/>
                </a:solidFill>
                <a:latin typeface="Aptos"/>
              </a:rPr>
              <a:t>• Modern browser and VS Code</a:t>
            </a:r>
          </a:p>
          <a:p>
            <a:pPr algn="l">
              <a:spcAft>
                <a:spcPts val="600"/>
              </a:spcAft>
              <a:defRPr sz="1300" b="0">
                <a:solidFill>
                  <a:srgbClr val="373541"/>
                </a:solidFill>
                <a:latin typeface="Aptos"/>
              </a:defRPr>
            </a:pPr>
            <a:r>
              <a:rPr sz="1000">
                <a:solidFill>
                  <a:srgbClr val="413A4C"/>
                </a:solidFill>
                <a:latin typeface="Aptos"/>
              </a:rPr>
              <a:t>• Browser Local Storage for prototype data</a:t>
            </a:r>
          </a:p>
        </p:txBody>
      </p:sp>
      <p:sp>
        <p:nvSpPr>
          <p:cNvPr id="10" name="Rounded Rectangle 9"/>
          <p:cNvSpPr/>
          <p:nvPr/>
        </p:nvSpPr>
        <p:spPr>
          <a:xfrm>
            <a:off x="6217920" y="1280160"/>
            <a:ext cx="5257800" cy="2057400"/>
          </a:xfrm>
          <a:prstGeom prst="round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1" name="Rectangle 10"/>
          <p:cNvSpPr/>
          <p:nvPr/>
        </p:nvSpPr>
        <p:spPr>
          <a:xfrm>
            <a:off x="6217920" y="1280160"/>
            <a:ext cx="73152" cy="2057400"/>
          </a:xfrm>
          <a:prstGeom prst="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TextBox 11"/>
          <p:cNvSpPr txBox="1"/>
          <p:nvPr/>
        </p:nvSpPr>
        <p:spPr>
          <a:xfrm>
            <a:off x="6400800" y="1417319"/>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Features to demonstrate</a:t>
            </a:r>
          </a:p>
        </p:txBody>
      </p:sp>
      <p:sp>
        <p:nvSpPr>
          <p:cNvPr id="13" name="TextBox 12"/>
          <p:cNvSpPr txBox="1"/>
          <p:nvPr/>
        </p:nvSpPr>
        <p:spPr>
          <a:xfrm>
            <a:off x="6400800" y="1801367"/>
            <a:ext cx="4910328" cy="1463040"/>
          </a:xfrm>
          <a:prstGeom prst="rect">
            <a:avLst/>
          </a:prstGeom>
          <a:noFill/>
        </p:spPr>
        <p:txBody>
          <a:bodyPr wrap="square" lIns="88900" tIns="50800" rIns="88900" bIns="50800" anchor="ctr">
            <a:spAutoFit/>
          </a:bodyPr>
          <a:lstStyle/>
          <a:p>
            <a:pPr algn="l">
              <a:spcAft>
                <a:spcPts val="600"/>
              </a:spcAft>
              <a:defRPr sz="1300" b="0">
                <a:solidFill>
                  <a:srgbClr val="373541"/>
                </a:solidFill>
                <a:latin typeface="Aptos"/>
              </a:defRPr>
            </a:pPr>
            <a:r>
              <a:rPr sz="1000">
                <a:solidFill>
                  <a:srgbClr val="413A4C"/>
                </a:solidFill>
                <a:latin typeface="Aptos"/>
              </a:rPr>
              <a:t>• Patient and doctor records</a:t>
            </a:r>
          </a:p>
          <a:p>
            <a:pPr algn="l">
              <a:spcAft>
                <a:spcPts val="600"/>
              </a:spcAft>
              <a:defRPr sz="1300" b="0">
                <a:solidFill>
                  <a:srgbClr val="373541"/>
                </a:solidFill>
                <a:latin typeface="Aptos"/>
              </a:defRPr>
            </a:pPr>
            <a:r>
              <a:rPr sz="1000">
                <a:solidFill>
                  <a:srgbClr val="413A4C"/>
                </a:solidFill>
                <a:latin typeface="Aptos"/>
              </a:rPr>
              <a:t>• Appointment scheduling and conflict checks</a:t>
            </a:r>
          </a:p>
          <a:p>
            <a:pPr algn="l">
              <a:spcAft>
                <a:spcPts val="600"/>
              </a:spcAft>
              <a:defRPr sz="1300" b="0">
                <a:solidFill>
                  <a:srgbClr val="373541"/>
                </a:solidFill>
                <a:latin typeface="Aptos"/>
              </a:defRPr>
            </a:pPr>
            <a:r>
              <a:rPr sz="1000">
                <a:solidFill>
                  <a:srgbClr val="413A4C"/>
                </a:solidFill>
                <a:latin typeface="Aptos"/>
              </a:rPr>
              <a:t>• Bed and ward occupancy</a:t>
            </a:r>
          </a:p>
          <a:p>
            <a:pPr algn="l">
              <a:spcAft>
                <a:spcPts val="600"/>
              </a:spcAft>
              <a:defRPr sz="1300" b="0">
                <a:solidFill>
                  <a:srgbClr val="373541"/>
                </a:solidFill>
                <a:latin typeface="Aptos"/>
              </a:defRPr>
            </a:pPr>
            <a:r>
              <a:rPr sz="1000">
                <a:solidFill>
                  <a:srgbClr val="413A4C"/>
                </a:solidFill>
                <a:latin typeface="Aptos"/>
              </a:rPr>
              <a:t>• Emergency dispatch</a:t>
            </a:r>
          </a:p>
          <a:p>
            <a:pPr algn="l">
              <a:spcAft>
                <a:spcPts val="600"/>
              </a:spcAft>
              <a:defRPr sz="1300" b="0">
                <a:solidFill>
                  <a:srgbClr val="373541"/>
                </a:solidFill>
                <a:latin typeface="Aptos"/>
              </a:defRPr>
            </a:pPr>
            <a:r>
              <a:rPr sz="1000">
                <a:solidFill>
                  <a:srgbClr val="413A4C"/>
                </a:solidFill>
                <a:latin typeface="Aptos"/>
              </a:rPr>
              <a:t>• Inventory, pharmacy, lab and billing</a:t>
            </a:r>
          </a:p>
          <a:p>
            <a:pPr algn="l">
              <a:spcAft>
                <a:spcPts val="600"/>
              </a:spcAft>
              <a:defRPr sz="1300" b="0">
                <a:solidFill>
                  <a:srgbClr val="373541"/>
                </a:solidFill>
                <a:latin typeface="Aptos"/>
              </a:defRPr>
            </a:pPr>
            <a:r>
              <a:rPr sz="1000">
                <a:solidFill>
                  <a:srgbClr val="413A4C"/>
                </a:solidFill>
                <a:latin typeface="Aptos"/>
              </a:rPr>
              <a:t>• Algorithm demonstrations for search and allocation</a:t>
            </a:r>
          </a:p>
        </p:txBody>
      </p:sp>
      <p:sp>
        <p:nvSpPr>
          <p:cNvPr id="14" name="TextBox 13"/>
          <p:cNvSpPr txBox="1"/>
          <p:nvPr/>
        </p:nvSpPr>
        <p:spPr>
          <a:xfrm>
            <a:off x="868680" y="3703320"/>
            <a:ext cx="10515600" cy="640080"/>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Evaluation plan: test form validation, record updates, appointment conflicts, capacity constraints, algorithm outputs, edge cases and larger sample datasets.</a:t>
            </a:r>
          </a:p>
        </p:txBody>
      </p:sp>
      <p:sp>
        <p:nvSpPr>
          <p:cNvPr id="15" name="TextBox 14"/>
          <p:cNvSpPr txBox="1"/>
          <p:nvPr/>
        </p:nvSpPr>
        <p:spPr>
          <a:xfrm>
            <a:off x="868680" y="4572000"/>
            <a:ext cx="10515600" cy="685800"/>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Report measured runtimes and screenshots from the actual project run. Do not claim clinical effectiveness or speed improvements without evidence.</a:t>
            </a:r>
          </a:p>
        </p:txBody>
      </p:sp>
      <p:sp>
        <p:nvSpPr>
          <p:cNvPr id="16" name="TextBox 15"/>
          <p:cNvSpPr txBox="1"/>
          <p:nvPr/>
        </p:nvSpPr>
        <p:spPr>
          <a:xfrm>
            <a:off x="868680" y="5623560"/>
            <a:ext cx="10515600" cy="320040"/>
          </a:xfrm>
          <a:prstGeom prst="rect">
            <a:avLst/>
          </a:prstGeom>
          <a:noFill/>
        </p:spPr>
        <p:txBody>
          <a:bodyPr wrap="square" lIns="88900" tIns="50800" rIns="88900" bIns="50800" anchor="ctr">
            <a:spAutoFit/>
          </a:bodyPr>
          <a:lstStyle/>
          <a:p>
            <a:pPr algn="l">
              <a:spcAft>
                <a:spcPts val="600"/>
              </a:spcAft>
              <a:defRPr sz="1200" b="0">
                <a:solidFill>
                  <a:srgbClr val="686574"/>
                </a:solidFill>
                <a:latin typeface="Aptos"/>
              </a:defRPr>
            </a:pPr>
            <a:r>
              <a:rPr sz="1000">
                <a:solidFill>
                  <a:srgbClr val="413A4C"/>
                </a:solidFill>
                <a:latin typeface="Aptos"/>
              </a:rPr>
              <a:t>The results section should reflect what is implemented and tested in your current version.</a:t>
            </a:r>
          </a:p>
        </p:txBody>
      </p:sp>
      <p:pic>
        <p:nvPicPr>
          <p:cNvPr id="17" name="Picture 16"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40080" y="109728"/>
            <a:ext cx="10058400" cy="219456"/>
          </a:xfrm>
          <a:prstGeom prst="rect">
            <a:avLst/>
          </a:prstGeom>
          <a:noFill/>
        </p:spPr>
        <p:txBody>
          <a:bodyPr wrap="square" lIns="88900" tIns="50800" rIns="88900" bIns="50800" anchor="ctr">
            <a:spAutoFit/>
          </a:bodyPr>
          <a:lstStyle/>
          <a:p>
            <a:pPr algn="l">
              <a:spcAft>
                <a:spcPts val="600"/>
              </a:spcAft>
              <a:defRPr sz="900" b="1">
                <a:solidFill>
                  <a:srgbClr val="745BA6"/>
                </a:solidFill>
                <a:latin typeface="Aptos"/>
              </a:defRPr>
            </a:pPr>
            <a:r>
              <a:rPr sz="1000">
                <a:solidFill>
                  <a:srgbClr val="413A4C"/>
                </a:solidFill>
                <a:latin typeface="Aptos"/>
              </a:rPr>
              <a:t>10 • CLOSING SUMMARY</a:t>
            </a:r>
          </a:p>
        </p:txBody>
      </p:sp>
      <p:sp>
        <p:nvSpPr>
          <p:cNvPr id="3" name="TextBox 2"/>
          <p:cNvSpPr txBox="1"/>
          <p:nvPr/>
        </p:nvSpPr>
        <p:spPr>
          <a:xfrm>
            <a:off x="621792" y="365760"/>
            <a:ext cx="10972800" cy="530352"/>
          </a:xfrm>
          <a:prstGeom prst="rect">
            <a:avLst/>
          </a:prstGeom>
          <a:noFill/>
        </p:spPr>
        <p:txBody>
          <a:bodyPr wrap="square" lIns="88900" tIns="50800" rIns="88900" bIns="50800" anchor="ctr">
            <a:spAutoFit/>
          </a:bodyPr>
          <a:lstStyle/>
          <a:p>
            <a:pPr algn="l">
              <a:spcAft>
                <a:spcPts val="600"/>
              </a:spcAft>
              <a:defRPr sz="2700" b="1">
                <a:solidFill>
                  <a:srgbClr val="2B2643"/>
                </a:solidFill>
                <a:latin typeface="Aptos"/>
              </a:defRPr>
            </a:pPr>
            <a:r>
              <a:rPr sz="2200" b="1">
                <a:solidFill>
                  <a:srgbClr val="35284B"/>
                </a:solidFill>
                <a:latin typeface="Aptos"/>
              </a:rPr>
              <a:t>Conclusion &amp; Future Scope</a:t>
            </a:r>
          </a:p>
        </p:txBody>
      </p:sp>
      <p:sp>
        <p:nvSpPr>
          <p:cNvPr id="4" name="Rectangle 3"/>
          <p:cNvSpPr/>
          <p:nvPr/>
        </p:nvSpPr>
        <p:spPr>
          <a:xfrm>
            <a:off x="658368" y="987552"/>
            <a:ext cx="960120" cy="50292"/>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5" name="TextBox 4"/>
          <p:cNvSpPr txBox="1"/>
          <p:nvPr/>
        </p:nvSpPr>
        <p:spPr>
          <a:xfrm>
            <a:off x="11155680" y="6473952"/>
            <a:ext cx="411480" cy="182880"/>
          </a:xfrm>
          <a:prstGeom prst="rect">
            <a:avLst/>
          </a:prstGeom>
          <a:noFill/>
        </p:spPr>
        <p:txBody>
          <a:bodyPr wrap="square" lIns="88900" tIns="50800" rIns="88900" bIns="50800" anchor="ctr">
            <a:spAutoFit/>
          </a:bodyPr>
          <a:lstStyle/>
          <a:p>
            <a:pPr algn="l">
              <a:spcAft>
                <a:spcPts val="600"/>
              </a:spcAft>
              <a:defRPr sz="900" b="1">
                <a:solidFill>
                  <a:srgbClr val="686574"/>
                </a:solidFill>
                <a:latin typeface="Aptos"/>
              </a:defRPr>
            </a:pPr>
            <a:r>
              <a:rPr sz="1000">
                <a:solidFill>
                  <a:srgbClr val="413A4C"/>
                </a:solidFill>
                <a:latin typeface="Aptos"/>
              </a:rPr>
              <a:t>11</a:t>
            </a:r>
          </a:p>
        </p:txBody>
      </p:sp>
      <p:sp>
        <p:nvSpPr>
          <p:cNvPr id="6" name="Rounded Rectangle 5"/>
          <p:cNvSpPr/>
          <p:nvPr/>
        </p:nvSpPr>
        <p:spPr>
          <a:xfrm>
            <a:off x="731520" y="1325880"/>
            <a:ext cx="5257800" cy="4206240"/>
          </a:xfrm>
          <a:prstGeom prst="round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7" name="Rectangle 6"/>
          <p:cNvSpPr/>
          <p:nvPr/>
        </p:nvSpPr>
        <p:spPr>
          <a:xfrm>
            <a:off x="731520" y="1325880"/>
            <a:ext cx="73152" cy="4206240"/>
          </a:xfrm>
          <a:prstGeom prst="rect">
            <a:avLst/>
          </a:prstGeom>
          <a:solidFill>
            <a:srgbClr val="E2D8F4"/>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8" name="TextBox 7"/>
          <p:cNvSpPr txBox="1"/>
          <p:nvPr/>
        </p:nvSpPr>
        <p:spPr>
          <a:xfrm>
            <a:off x="914400" y="1463039"/>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Conclusion</a:t>
            </a:r>
          </a:p>
        </p:txBody>
      </p:sp>
      <p:sp>
        <p:nvSpPr>
          <p:cNvPr id="9" name="TextBox 8"/>
          <p:cNvSpPr txBox="1"/>
          <p:nvPr/>
        </p:nvSpPr>
        <p:spPr>
          <a:xfrm>
            <a:off x="914400" y="1847088"/>
            <a:ext cx="4910328" cy="3611879"/>
          </a:xfrm>
          <a:prstGeom prst="rect">
            <a:avLst/>
          </a:prstGeom>
          <a:noFill/>
        </p:spPr>
        <p:txBody>
          <a:bodyPr wrap="square" lIns="88900" tIns="50800" rIns="88900" bIns="50800" anchor="ctr">
            <a:spAutoFit/>
          </a:bodyPr>
          <a:lstStyle/>
          <a:p>
            <a:pPr algn="l"/>
            <a:r>
              <a:rPr sz="1000">
                <a:solidFill>
                  <a:srgbClr val="413A4C"/>
                </a:solidFill>
                <a:latin typeface="Aptos"/>
              </a:rPr>
              <a:t>Hospital Bed Scheduling System brings common hospital workflows into one web interface and demonstrates how advanced algorithms can support searching, appointment scheduling, monitoring placement and resource planning. It provides a practical learning platform and a foundation for more integrated hospital operations.</a:t>
            </a:r>
          </a:p>
        </p:txBody>
      </p:sp>
      <p:sp>
        <p:nvSpPr>
          <p:cNvPr id="10" name="Rounded Rectangle 9"/>
          <p:cNvSpPr/>
          <p:nvPr/>
        </p:nvSpPr>
        <p:spPr>
          <a:xfrm>
            <a:off x="6217920" y="1325880"/>
            <a:ext cx="5257800" cy="4206240"/>
          </a:xfrm>
          <a:prstGeom prst="roundRect">
            <a:avLst/>
          </a:prstGeom>
          <a:solidFill>
            <a:srgbClr val="E8E0F8"/>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1" name="Rectangle 10"/>
          <p:cNvSpPr/>
          <p:nvPr/>
        </p:nvSpPr>
        <p:spPr>
          <a:xfrm>
            <a:off x="6217920" y="1325880"/>
            <a:ext cx="73152" cy="4206240"/>
          </a:xfrm>
          <a:prstGeom prst="rect">
            <a:avLst/>
          </a:prstGeom>
          <a:solidFill>
            <a:srgbClr val="FAE7DA"/>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12" name="TextBox 11"/>
          <p:cNvSpPr txBox="1"/>
          <p:nvPr/>
        </p:nvSpPr>
        <p:spPr>
          <a:xfrm>
            <a:off x="6400800" y="1463039"/>
            <a:ext cx="4928616" cy="310896"/>
          </a:xfrm>
          <a:prstGeom prst="rect">
            <a:avLst/>
          </a:prstGeom>
          <a:noFill/>
        </p:spPr>
        <p:txBody>
          <a:bodyPr wrap="square" lIns="88900" tIns="50800" rIns="88900" bIns="50800" anchor="ctr">
            <a:spAutoFit/>
          </a:bodyPr>
          <a:lstStyle/>
          <a:p>
            <a:pPr algn="l">
              <a:spcAft>
                <a:spcPts val="600"/>
              </a:spcAft>
              <a:defRPr sz="1500" b="1">
                <a:solidFill>
                  <a:srgbClr val="2B2643"/>
                </a:solidFill>
                <a:latin typeface="Aptos"/>
              </a:defRPr>
            </a:pPr>
            <a:r>
              <a:rPr sz="1000">
                <a:solidFill>
                  <a:srgbClr val="413A4C"/>
                </a:solidFill>
                <a:latin typeface="Aptos"/>
              </a:rPr>
              <a:t>Future scope</a:t>
            </a:r>
          </a:p>
        </p:txBody>
      </p:sp>
      <p:sp>
        <p:nvSpPr>
          <p:cNvPr id="13" name="TextBox 12"/>
          <p:cNvSpPr txBox="1"/>
          <p:nvPr/>
        </p:nvSpPr>
        <p:spPr>
          <a:xfrm>
            <a:off x="6400800" y="1847088"/>
            <a:ext cx="4910328" cy="3611879"/>
          </a:xfrm>
          <a:prstGeom prst="rect">
            <a:avLst/>
          </a:prstGeom>
          <a:noFill/>
        </p:spPr>
        <p:txBody>
          <a:bodyPr wrap="square" lIns="88900" tIns="50800" rIns="88900" bIns="50800" anchor="ctr">
            <a:spAutoFit/>
          </a:bodyPr>
          <a:lstStyle/>
          <a:p>
            <a:pPr algn="l">
              <a:spcAft>
                <a:spcPts val="600"/>
              </a:spcAft>
              <a:defRPr sz="1400" b="0">
                <a:solidFill>
                  <a:srgbClr val="373541"/>
                </a:solidFill>
                <a:latin typeface="Aptos"/>
              </a:defRPr>
            </a:pPr>
            <a:r>
              <a:rPr sz="1000">
                <a:solidFill>
                  <a:srgbClr val="413A4C"/>
                </a:solidFill>
                <a:latin typeface="Aptos"/>
              </a:rPr>
              <a:t>• Add a secure backend database and role-based access</a:t>
            </a:r>
          </a:p>
          <a:p>
            <a:pPr algn="l">
              <a:spcAft>
                <a:spcPts val="600"/>
              </a:spcAft>
              <a:defRPr sz="1400" b="0">
                <a:solidFill>
                  <a:srgbClr val="373541"/>
                </a:solidFill>
                <a:latin typeface="Aptos"/>
              </a:defRPr>
            </a:pPr>
            <a:r>
              <a:rPr sz="1000">
                <a:solidFill>
                  <a:srgbClr val="413A4C"/>
                </a:solidFill>
                <a:latin typeface="Aptos"/>
              </a:rPr>
              <a:t>• Integrate real-time bed and stock updates</a:t>
            </a:r>
          </a:p>
          <a:p>
            <a:pPr algn="l">
              <a:spcAft>
                <a:spcPts val="600"/>
              </a:spcAft>
              <a:defRPr sz="1400" b="0">
                <a:solidFill>
                  <a:srgbClr val="373541"/>
                </a:solidFill>
                <a:latin typeface="Aptos"/>
              </a:defRPr>
            </a:pPr>
            <a:r>
              <a:rPr sz="1000">
                <a:solidFill>
                  <a:srgbClr val="413A4C"/>
                </a:solidFill>
                <a:latin typeface="Aptos"/>
              </a:rPr>
              <a:t>• Develop mobile access for patients and staff</a:t>
            </a:r>
          </a:p>
          <a:p>
            <a:pPr algn="l">
              <a:spcAft>
                <a:spcPts val="600"/>
              </a:spcAft>
              <a:defRPr sz="1400" b="0">
                <a:solidFill>
                  <a:srgbClr val="373541"/>
                </a:solidFill>
                <a:latin typeface="Aptos"/>
              </a:defRPr>
            </a:pPr>
            <a:r>
              <a:rPr sz="1000">
                <a:solidFill>
                  <a:srgbClr val="413A4C"/>
                </a:solidFill>
                <a:latin typeface="Aptos"/>
              </a:rPr>
              <a:t>• Add automated appointment and inventory alerts</a:t>
            </a:r>
          </a:p>
          <a:p>
            <a:pPr algn="l">
              <a:spcAft>
                <a:spcPts val="600"/>
              </a:spcAft>
              <a:defRPr sz="1400" b="0">
                <a:solidFill>
                  <a:srgbClr val="373541"/>
                </a:solidFill>
                <a:latin typeface="Aptos"/>
              </a:defRPr>
            </a:pPr>
            <a:r>
              <a:rPr sz="1000">
                <a:solidFill>
                  <a:srgbClr val="413A4C"/>
                </a:solidFill>
                <a:latin typeface="Aptos"/>
              </a:rPr>
              <a:t>• Improve multilingual support and accessibility</a:t>
            </a:r>
          </a:p>
          <a:p>
            <a:pPr algn="l">
              <a:spcAft>
                <a:spcPts val="600"/>
              </a:spcAft>
              <a:defRPr sz="1400" b="0">
                <a:solidFill>
                  <a:srgbClr val="373541"/>
                </a:solidFill>
                <a:latin typeface="Aptos"/>
              </a:defRPr>
            </a:pPr>
            <a:r>
              <a:rPr sz="1000">
                <a:solidFill>
                  <a:srgbClr val="413A4C"/>
                </a:solidFill>
                <a:latin typeface="Aptos"/>
              </a:rPr>
              <a:t>• Add analytics, audit logs and tested decision-support features</a:t>
            </a:r>
          </a:p>
        </p:txBody>
      </p:sp>
      <p:sp>
        <p:nvSpPr>
          <p:cNvPr id="14" name="TextBox 13"/>
          <p:cNvSpPr txBox="1"/>
          <p:nvPr/>
        </p:nvSpPr>
        <p:spPr>
          <a:xfrm>
            <a:off x="868680" y="5806440"/>
            <a:ext cx="10515600" cy="320040"/>
          </a:xfrm>
          <a:prstGeom prst="rect">
            <a:avLst/>
          </a:prstGeom>
          <a:noFill/>
        </p:spPr>
        <p:txBody>
          <a:bodyPr wrap="square" lIns="88900" tIns="50800" rIns="88900" bIns="50800" anchor="ctr">
            <a:spAutoFit/>
          </a:bodyPr>
          <a:lstStyle/>
          <a:p>
            <a:pPr algn="l">
              <a:spcAft>
                <a:spcPts val="600"/>
              </a:spcAft>
              <a:defRPr sz="1200" b="0">
                <a:solidFill>
                  <a:srgbClr val="686574"/>
                </a:solidFill>
                <a:latin typeface="Aptos"/>
              </a:defRPr>
            </a:pPr>
            <a:r>
              <a:rPr sz="1000">
                <a:solidFill>
                  <a:srgbClr val="413A4C"/>
                </a:solidFill>
                <a:latin typeface="Aptos"/>
              </a:rPr>
              <a:t>Future clinical features should be developed with appropriate privacy, security and healthcare-professional validation.</a:t>
            </a:r>
          </a:p>
        </p:txBody>
      </p:sp>
      <p:pic>
        <p:nvPicPr>
          <p:cNvPr id="15" name="Picture 14"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D"/>
        </a:solidFill>
        <a:effectLst/>
      </p:bgPr>
    </p:bg>
    <p:spTree>
      <p:nvGrpSpPr>
        <p:cNvPr id="1" name=""/>
        <p:cNvGrpSpPr/>
        <p:nvPr/>
      </p:nvGrpSpPr>
      <p:grpSpPr>
        <a:xfrm>
          <a:off x="0" y="0"/>
          <a:ext cx="0" cy="0"/>
          <a:chOff x="0" y="0"/>
          <a:chExt cx="0" cy="0"/>
        </a:xfrm>
      </p:grpSpPr>
      <p:sp>
        <p:nvSpPr>
          <p:cNvPr id="2" name="TextBox 1"/>
          <p:cNvSpPr txBox="1"/>
          <p:nvPr/>
        </p:nvSpPr>
        <p:spPr>
          <a:xfrm>
            <a:off x="685800" y="411480"/>
            <a:ext cx="10789920" cy="548640"/>
          </a:xfrm>
          <a:prstGeom prst="rect">
            <a:avLst/>
          </a:prstGeom>
          <a:noFill/>
        </p:spPr>
        <p:txBody>
          <a:bodyPr wrap="square" lIns="88900" tIns="50800" rIns="88900" bIns="50800" anchor="ctr">
            <a:spAutoFit/>
          </a:bodyPr>
          <a:lstStyle/>
          <a:p>
            <a:pPr algn="l">
              <a:spcAft>
                <a:spcPts val="600"/>
              </a:spcAft>
              <a:defRPr sz="2800" b="1">
                <a:solidFill>
                  <a:srgbClr val="FFFFFF"/>
                </a:solidFill>
                <a:latin typeface="Aptos"/>
              </a:defRPr>
            </a:pPr>
            <a:r>
              <a:rPr sz="2400" b="1">
                <a:solidFill>
                  <a:srgbClr val="35284B"/>
                </a:solidFill>
                <a:latin typeface="Aptos"/>
              </a:rPr>
              <a:t>References &amp; Thank You</a:t>
            </a:r>
          </a:p>
        </p:txBody>
      </p:sp>
      <p:sp>
        <p:nvSpPr>
          <p:cNvPr id="3" name="Rectangle 2"/>
          <p:cNvSpPr/>
          <p:nvPr/>
        </p:nvSpPr>
        <p:spPr>
          <a:xfrm>
            <a:off x="731520" y="1051560"/>
            <a:ext cx="914400" cy="50292"/>
          </a:xfrm>
          <a:prstGeom prst="rect">
            <a:avLst/>
          </a:prstGeom>
          <a:solidFill>
            <a:srgbClr val="F7DAE5"/>
          </a:solidFill>
          <a:ln>
            <a:solidFill>
              <a:srgbClr val="E2D8F4"/>
            </a:solidFill>
          </a:ln>
        </p:spPr>
        <p:style>
          <a:lnRef idx="1">
            <a:schemeClr val="accent1"/>
          </a:lnRef>
          <a:fillRef idx="3">
            <a:schemeClr val="accent1"/>
          </a:fillRef>
          <a:effectRef idx="2">
            <a:schemeClr val="accent1"/>
          </a:effectRef>
          <a:fontRef idx="minor">
            <a:schemeClr val="lt1"/>
          </a:fontRef>
        </p:style>
        <p:txBody>
          <a:bodyPr wrap="square" lIns="88900" tIns="50800" rIns="88900" bIns="50800" rtlCol="0" anchor="ctr"/>
          <a:lstStyle/>
          <a:p>
            <a:pPr algn="l"/>
            <a:endParaRPr/>
          </a:p>
        </p:txBody>
      </p:sp>
      <p:sp>
        <p:nvSpPr>
          <p:cNvPr id="4" name="TextBox 3"/>
          <p:cNvSpPr txBox="1"/>
          <p:nvPr/>
        </p:nvSpPr>
        <p:spPr>
          <a:xfrm>
            <a:off x="822960" y="1463040"/>
            <a:ext cx="2743200" cy="320040"/>
          </a:xfrm>
          <a:prstGeom prst="rect">
            <a:avLst/>
          </a:prstGeom>
          <a:noFill/>
        </p:spPr>
        <p:txBody>
          <a:bodyPr wrap="square" lIns="88900" tIns="50800" rIns="88900" bIns="50800" anchor="ctr">
            <a:spAutoFit/>
          </a:bodyPr>
          <a:lstStyle/>
          <a:p>
            <a:pPr algn="l">
              <a:spcAft>
                <a:spcPts val="600"/>
              </a:spcAft>
              <a:defRPr sz="1600" b="1">
                <a:solidFill>
                  <a:srgbClr val="F7DACA"/>
                </a:solidFill>
                <a:latin typeface="Aptos"/>
              </a:defRPr>
            </a:pPr>
            <a:r>
              <a:rPr sz="1000">
                <a:solidFill>
                  <a:srgbClr val="35284B"/>
                </a:solidFill>
                <a:latin typeface="Aptos"/>
              </a:rPr>
              <a:t>Selected references</a:t>
            </a:r>
          </a:p>
        </p:txBody>
      </p:sp>
      <p:sp>
        <p:nvSpPr>
          <p:cNvPr id="5" name="TextBox 4"/>
          <p:cNvSpPr txBox="1"/>
          <p:nvPr/>
        </p:nvSpPr>
        <p:spPr>
          <a:xfrm>
            <a:off x="868680" y="1874519"/>
            <a:ext cx="10241280" cy="2103120"/>
          </a:xfrm>
          <a:prstGeom prst="rect">
            <a:avLst/>
          </a:prstGeom>
          <a:noFill/>
        </p:spPr>
        <p:txBody>
          <a:bodyPr wrap="square" lIns="88900" tIns="50800" rIns="88900" bIns="50800" anchor="ctr">
            <a:spAutoFit/>
          </a:bodyPr>
          <a:lstStyle/>
          <a:p>
            <a:pPr algn="l"/>
            <a:r>
              <a:rPr sz="1000">
                <a:solidFill>
                  <a:srgbClr val="35284B"/>
                </a:solidFill>
                <a:latin typeface="Aptos"/>
              </a:rPr>
              <a:t>• Cormen, Leiserson, Rivest &amp; Stein — Introduction to Algorithms (CLRS)</a:t>
            </a:r>
          </a:p>
          <a:p>
            <a:pPr algn="l"/>
            <a:r>
              <a:rPr sz="1000">
                <a:solidFill>
                  <a:srgbClr val="35284B"/>
                </a:solidFill>
                <a:latin typeface="Aptos"/>
              </a:rPr>
              <a:t>• Kleinberg &amp; Tardos — Algorithm Design</a:t>
            </a:r>
          </a:p>
          <a:p>
            <a:pPr algn="l"/>
            <a:r>
              <a:rPr sz="1000">
                <a:solidFill>
                  <a:srgbClr val="35284B"/>
                </a:solidFill>
                <a:latin typeface="Aptos"/>
              </a:rPr>
              <a:t>• Jeff Erickson — Algorithms</a:t>
            </a:r>
          </a:p>
          <a:p>
            <a:pPr algn="l"/>
            <a:r>
              <a:rPr sz="1000">
                <a:solidFill>
                  <a:srgbClr val="35284B"/>
                </a:solidFill>
                <a:latin typeface="Aptos"/>
              </a:rPr>
              <a:t>• Foundational literature on KMP, dynamic programming and network flow</a:t>
            </a:r>
          </a:p>
          <a:p>
            <a:pPr algn="l"/>
            <a:r>
              <a:rPr sz="1000">
                <a:solidFill>
                  <a:srgbClr val="35284B"/>
                </a:solidFill>
                <a:latin typeface="Aptos"/>
              </a:rPr>
              <a:t>• Hospital Bed Scheduling System project source code and implementation documentation</a:t>
            </a:r>
          </a:p>
        </p:txBody>
      </p:sp>
      <p:sp>
        <p:nvSpPr>
          <p:cNvPr id="6" name="TextBox 5"/>
          <p:cNvSpPr txBox="1"/>
          <p:nvPr/>
        </p:nvSpPr>
        <p:spPr>
          <a:xfrm>
            <a:off x="822960" y="4572000"/>
            <a:ext cx="5303520" cy="731520"/>
          </a:xfrm>
          <a:prstGeom prst="rect">
            <a:avLst/>
          </a:prstGeom>
          <a:noFill/>
        </p:spPr>
        <p:txBody>
          <a:bodyPr wrap="square" lIns="88900" tIns="50800" rIns="88900" bIns="50800" anchor="ctr">
            <a:spAutoFit/>
          </a:bodyPr>
          <a:lstStyle/>
          <a:p>
            <a:pPr algn="l">
              <a:spcAft>
                <a:spcPts val="600"/>
              </a:spcAft>
              <a:defRPr sz="3800" b="1">
                <a:solidFill>
                  <a:srgbClr val="FFFFFF"/>
                </a:solidFill>
                <a:latin typeface="Aptos"/>
              </a:defRPr>
            </a:pPr>
            <a:r>
              <a:rPr sz="2400" b="1">
                <a:solidFill>
                  <a:srgbClr val="35284B"/>
                </a:solidFill>
                <a:latin typeface="Aptos"/>
              </a:rPr>
              <a:t>Thank You!</a:t>
            </a:r>
          </a:p>
        </p:txBody>
      </p:sp>
      <p:sp>
        <p:nvSpPr>
          <p:cNvPr id="7" name="TextBox 6"/>
          <p:cNvSpPr txBox="1"/>
          <p:nvPr/>
        </p:nvSpPr>
        <p:spPr>
          <a:xfrm>
            <a:off x="868680" y="5440680"/>
            <a:ext cx="5303520" cy="411480"/>
          </a:xfrm>
          <a:prstGeom prst="rect">
            <a:avLst/>
          </a:prstGeom>
          <a:noFill/>
        </p:spPr>
        <p:txBody>
          <a:bodyPr wrap="square" lIns="88900" tIns="50800" rIns="88900" bIns="50800" anchor="ctr">
            <a:spAutoFit/>
          </a:bodyPr>
          <a:lstStyle/>
          <a:p>
            <a:pPr algn="l">
              <a:spcAft>
                <a:spcPts val="600"/>
              </a:spcAft>
              <a:defRPr sz="2200" b="1">
                <a:solidFill>
                  <a:srgbClr val="F7DACA"/>
                </a:solidFill>
                <a:latin typeface="Aptos"/>
              </a:defRPr>
            </a:pPr>
            <a:r>
              <a:rPr sz="1700" b="1">
                <a:solidFill>
                  <a:srgbClr val="35284B"/>
                </a:solidFill>
                <a:latin typeface="Aptos"/>
              </a:rPr>
              <a:t>Questions &amp; Discussion</a:t>
            </a:r>
          </a:p>
        </p:txBody>
      </p:sp>
      <p:sp>
        <p:nvSpPr>
          <p:cNvPr id="8" name="TextBox 7"/>
          <p:cNvSpPr txBox="1"/>
          <p:nvPr/>
        </p:nvSpPr>
        <p:spPr>
          <a:xfrm>
            <a:off x="868680" y="5989320"/>
            <a:ext cx="7955279" cy="320040"/>
          </a:xfrm>
          <a:prstGeom prst="rect">
            <a:avLst/>
          </a:prstGeom>
          <a:noFill/>
        </p:spPr>
        <p:txBody>
          <a:bodyPr wrap="square" lIns="88900" tIns="50800" rIns="88900" bIns="50800" anchor="ctr">
            <a:spAutoFit/>
          </a:bodyPr>
          <a:lstStyle/>
          <a:p>
            <a:pPr algn="l"/>
            <a:r>
              <a:rPr sz="1000">
                <a:solidFill>
                  <a:srgbClr val="35284B"/>
                </a:solidFill>
                <a:latin typeface="Aptos"/>
              </a:rPr>
              <a:t>Hospital Bed Scheduling System — organising hospital workflows with algorithmic thinking.</a:t>
            </a:r>
          </a:p>
        </p:txBody>
      </p:sp>
      <p:pic>
        <p:nvPicPr>
          <p:cNvPr id="9" name="Picture 8" descr="Screenshot 2026-10-05 093803.png"/>
          <p:cNvPicPr>
            <a:picLocks noChangeAspect="1"/>
          </p:cNvPicPr>
          <p:nvPr/>
        </p:nvPicPr>
        <p:blipFill>
          <a:blip r:embed="rId2"/>
          <a:stretch>
            <a:fillRect/>
          </a:stretch>
        </p:blipFill>
        <p:spPr>
          <a:xfrm>
            <a:off x="11277295" y="109728"/>
            <a:ext cx="685800" cy="2680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1205</Words>
  <Application>Microsoft Macintosh PowerPoint</Application>
  <PresentationFormat>Custom</PresentationFormat>
  <Paragraphs>150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Manager/>
  <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
  <cp:keywords/>
  <dc:description>generated using python-pptx</dc:description>
  <cp:lastModifiedBy>srija varma</cp:lastModifiedBy>
  <cp:revision>2</cp:revision>
  <dcterms:created xsi:type="dcterms:W3CDTF">2013-01-27T09:14:16Z</dcterms:created>
  <dcterms:modified xsi:type="dcterms:W3CDTF">2026-10-12T04:13:09Z</dcterms:modified>
  <cp:category/>
</cp:coreProperties>
</file>